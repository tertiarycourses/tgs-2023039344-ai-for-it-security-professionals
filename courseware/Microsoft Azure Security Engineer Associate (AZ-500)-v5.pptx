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3039344---Microsoft-Azure-Security-Engineer-Associate-AZ-500-/tree/main/labs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s.tertiaryinfotech.com/practice-exams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50292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800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78992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607040" cy="1143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200" b="1">
                <a:solidFill>
                  <a:srgbClr val="111827"/>
                </a:solidFill>
                <a:latin typeface="Arial"/>
              </a:rPr>
              <a:t>Microsoft Azure Security Engineer Associate (AZ-500)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87552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0">
                <a:solidFill>
                  <a:srgbClr val="4B5563"/>
                </a:solidFill>
                <a:latin typeface="Arial"/>
              </a:rPr>
              <a:t>TGS-2023039344 | Hands-On Labs | Tertiary Infotech Academy Pte Ltd | UEN: 201200696W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5989320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00" b="1">
                <a:solidFill>
                  <a:srgbClr val="1F6FEB"/>
                </a:solidFill>
                <a:latin typeface="Arial"/>
              </a:rPr>
              <a:t>Version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Copyright Notice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Copyright 2026 Tertiary Infotech Academy Pte Ltd.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Materials are for enrolled learners 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Do not redistribute assessment or trainer materials.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About Tertiary Infotech Academy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WSQ course provider delivering ICT and business technology training.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UEN: 201200696W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Training format: instructor-led, hands-on, assessment-ready.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YOUR TRAINER -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28800"/>
            <a:ext cx="3337560" cy="420624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828800"/>
            <a:ext cx="3337560" cy="10058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3352" y="2395728"/>
            <a:ext cx="1554480" cy="155448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97680"/>
            <a:ext cx="30632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100" b="1">
                <a:solidFill>
                  <a:srgbClr val="111827"/>
                </a:solidFill>
                <a:latin typeface="Arial"/>
              </a:rPr>
              <a:t>Your Trainer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919472"/>
            <a:ext cx="306324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50" b="1">
                <a:solidFill>
                  <a:srgbClr val="4B5563"/>
                </a:solidFill>
                <a:latin typeface="Arial"/>
              </a:rPr>
              <a:t>General Trainer template -
to be completed by the trainer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82880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82880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96596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224028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20" y="256032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17720" y="2560320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2697479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297180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329184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3291840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342900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370332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17720" y="402336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20" y="4023360"/>
            <a:ext cx="73152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16052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443484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475488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17720" y="475488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489204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92040" y="516636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17720" y="548640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17720" y="5486400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562356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589788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28800"/>
            <a:ext cx="3337560" cy="420624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828800"/>
            <a:ext cx="333756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91640" y="2331720"/>
            <a:ext cx="1600200" cy="1600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AA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389120"/>
            <a:ext cx="30632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1">
                <a:solidFill>
                  <a:srgbClr val="111827"/>
                </a:solidFill>
                <a:latin typeface="Arial"/>
              </a:rPr>
              <a:t>Dr. Alfred 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4919472"/>
            <a:ext cx="3063240" cy="56692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50" b="1">
                <a:solidFill>
                  <a:srgbClr val="4B5563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828800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828800"/>
            <a:ext cx="73152" cy="868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993392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267712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2907791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17720" y="2907791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3072384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QUALIFICATIONS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346703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PhD - specialises in AI, automation, software engineering and cloud learning.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3986783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3986783"/>
            <a:ext cx="73152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4151375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DELIVERS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425696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WSQ courses on cloud fundamentals, AI, automation and app development.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5065776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20" y="5065776"/>
            <a:ext cx="7315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5230368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FOUNDER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5504688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TRAQOM - SSG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Digital Attendance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Complete SSG TRAQOM digital attendance at the required checkpoints.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Use the same registered learner identity throughout the course.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Assessment digital attendance is separate from class attendance.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The TRAQOM QR code and LMS submission are provided through the LMS/TMS portal.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Ground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73152" cy="1143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78408" y="2020824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0756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691640"/>
            <a:ext cx="73152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47688" y="2020824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0756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Participate actively - no question is too small.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918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291840"/>
            <a:ext cx="73152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8408" y="36210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6758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2918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291840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47688" y="36210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6758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920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892040"/>
            <a:ext cx="73152" cy="1143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8408" y="5221224"/>
            <a:ext cx="530352" cy="53035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2760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8920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4892040"/>
            <a:ext cx="73152" cy="1143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47688" y="5221224"/>
            <a:ext cx="530352" cy="53035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52760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Share your name, role and Azure security experience.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State one identity, network or monitoring control you want to practise.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Confirm your access to the assigned Azure subscription or sandbox.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Course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514600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RBAC, PIM, Conditional Access and managed identities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25146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3-4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NSG, ASG, Firewall, WAF and Private Endpoint controls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146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5-6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Bastion, JIT, encryption, SQL, Storage and Key Vault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51460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rial"/>
              </a:rPr>
              <a:t>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7-8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Defender for Cloud, Policy, Sentinel and playbooks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Assessment is open book and conducted through the LMS.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Complete WA first, then PP.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Use lab evidence and screenshots where instructed.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Ask for clarification before the assessment starts, not during submission.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 &amp; Funding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514600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Written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1 hr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Open book. Complete the WA before 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25146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Practical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1 hr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Use the LMS and lab evidence as instructed.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146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Required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Take assessment attendance before starting.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51460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rial"/>
              </a:rPr>
              <a:t>Funding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SSG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Meet attendance and assessment requirements.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 Flow Reminder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TRAQOM digital
attendance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99232" y="235915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Assessment digital
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48072" y="2359152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Sit WA then
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96912" y="2359152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Submit answers on
the LMS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4575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Sign Assessment
Summary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074920"/>
            <a:ext cx="78638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Arial"/>
              </a:rPr>
              <a:t>The TRAQOM QR code and LMS submission are both handled through the LMS/TMS portal.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Access the Hands-On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  <a:hlinkClick r:id="rId2"/>
              </a:rPr>
              <a:t>https://github.com/tertiarycourses/TGS-2023039344---Microsoft-Azure-Security-Engineer-Associate-AZ-500-/tree/main/labs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48840"/>
            <a:ext cx="3246120" cy="1965960"/>
          </a:xfrm>
          <a:prstGeom prst="roundRect">
            <a:avLst/>
          </a:prstGeom>
          <a:solidFill>
            <a:srgbClr val="E8F0FE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359152"/>
            <a:ext cx="283464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Option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697480"/>
            <a:ext cx="283464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Arial"/>
              </a:rPr>
              <a:t>Clone the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127248"/>
            <a:ext cx="283464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0">
                <a:solidFill>
                  <a:srgbClr val="4B5563"/>
                </a:solidFill>
                <a:latin typeface="Arial"/>
              </a:rPr>
              <a:t>git clone https://github.com/tertiarycourses/TGS-2023039344---Microsoft-Azure-Security-Engineer-Associate-AZ-500-.git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148840"/>
            <a:ext cx="3246120" cy="1965960"/>
          </a:xfrm>
          <a:prstGeom prst="roundRect">
            <a:avLst/>
          </a:prstGeom>
          <a:solidFill>
            <a:srgbClr val="E8F7EE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2359152"/>
            <a:ext cx="283464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Option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697480"/>
            <a:ext cx="283464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Arial"/>
              </a:rPr>
              <a:t>Download the ZIP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3127248"/>
            <a:ext cx="283464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0">
                <a:solidFill>
                  <a:srgbClr val="4B5563"/>
                </a:solidFill>
                <a:latin typeface="Arial"/>
              </a:rPr>
              <a:t>GitHub Code menu &gt; Download ZIP, then open the labs folder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19" y="2148840"/>
            <a:ext cx="3246120" cy="1965960"/>
          </a:xfrm>
          <a:prstGeom prst="roundRect">
            <a:avLst/>
          </a:prstGeom>
          <a:solidFill>
            <a:srgbClr val="FFF4E5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2359152"/>
            <a:ext cx="283464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697480"/>
            <a:ext cx="283464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Arial"/>
              </a:rPr>
              <a:t>Use the browser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3127248"/>
            <a:ext cx="283464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0">
                <a:solidFill>
                  <a:srgbClr val="4B5563"/>
                </a:solidFill>
                <a:latin typeface="Arial"/>
              </a:rPr>
              <a:t>Follow each lab in Azure Portal using the instructor-provided subscription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37760"/>
            <a:ext cx="1024128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Record screenshots or notes where the lab asks for evidence. If a feature is unavailable because of licensing or permission limits, document the exact blocker.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LMS / TMS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Download Course Material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60020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719072"/>
            <a:ext cx="256032" cy="137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81912"/>
            <a:ext cx="3566160" cy="292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Arial"/>
              </a:rPr>
              <a:t>Sign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47672"/>
            <a:ext cx="356616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4B5563"/>
                </a:solidFill>
                <a:latin typeface="Arial"/>
              </a:rPr>
              <a:t>Open the LMS/TMS with your registered learner account.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8346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953512"/>
            <a:ext cx="256032" cy="137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16352"/>
            <a:ext cx="3566160" cy="292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Arial"/>
              </a:rPr>
              <a:t>Open the 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182112"/>
            <a:ext cx="356616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4B5563"/>
                </a:solidFill>
                <a:latin typeface="Arial"/>
              </a:rPr>
              <a:t>Select Microsoft Azure Security Engineer Associate (AZ-500).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0690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4187952"/>
            <a:ext cx="256032" cy="137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050792"/>
            <a:ext cx="3566160" cy="292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Arial"/>
              </a:rPr>
              <a:t>Download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416552"/>
            <a:ext cx="356616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4B5563"/>
                </a:solidFill>
                <a:latin typeface="Arial"/>
              </a:rPr>
              <a:t>Open Courseware and download the Learner Slides and Learner Guide.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1508760"/>
            <a:ext cx="5806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0" y="1508760"/>
            <a:ext cx="5806440" cy="47548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0" y="1682496"/>
            <a:ext cx="100584" cy="100584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70448" y="1682496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71616" y="1682496"/>
            <a:ext cx="100584" cy="1005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645920"/>
            <a:ext cx="443484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750" b="1">
                <a:solidFill>
                  <a:srgbClr val="1F6FEB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2267712"/>
            <a:ext cx="512064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My Courses  &gt;  AZ-500  &gt;  Courseware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2697480"/>
            <a:ext cx="5029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Arial"/>
              </a:rPr>
              <a:t>Course Material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06440" y="3246120"/>
            <a:ext cx="507492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53328" y="3410712"/>
            <a:ext cx="292608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Arial"/>
              </a:rPr>
              <a:t>Learner Slides (PDF)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3410712"/>
            <a:ext cx="169164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850" b="1">
                <a:solidFill>
                  <a:srgbClr val="1F6FEB"/>
                </a:solidFill>
                <a:latin typeface="Arial"/>
              </a:rPr>
              <a:t>Open or download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06440" y="3995928"/>
            <a:ext cx="507492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53328" y="4160520"/>
            <a:ext cx="292608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Arial"/>
              </a:rPr>
              <a:t>Learner Guide (PDF)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4160520"/>
            <a:ext cx="169164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850" b="1">
                <a:solidFill>
                  <a:srgbClr val="10B981"/>
                </a:solidFill>
                <a:latin typeface="Arial"/>
              </a:rPr>
              <a:t>Step-by-step labs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06440" y="4745736"/>
            <a:ext cx="507492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53328" y="4910327"/>
            <a:ext cx="292608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Arial"/>
              </a:rPr>
              <a:t>Lesson Plan (PDF)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4910327"/>
            <a:ext cx="169164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850" b="1">
                <a:solidFill>
                  <a:srgbClr val="7C3AED"/>
                </a:solidFill>
                <a:latin typeface="Arial"/>
              </a:rPr>
              <a:t>Schedule and slide map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Two-Day Lesson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Day 1: Labs 1-4 - identity, privileged access, Conditional Access, managed identities and network protection.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Day 2: Labs 5-8 - compute, data protection, Defender for Cloud, Sentinel investigation and automation.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All lab work uses the assigned training subscription and `rg-az500-&lt;initials&gt;` unless your trainer instructs otherwise.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Azure Resource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920240" cy="77724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Tenant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920240"/>
            <a:ext cx="1920240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Subscription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920240"/>
            <a:ext cx="1920240" cy="77724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Resource Group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920240"/>
            <a:ext cx="1920240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Resources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4023360"/>
            <a:ext cx="1920240" cy="7772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Tags / RBAC / Policy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51760" y="2121408"/>
            <a:ext cx="502920" cy="32004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4892040" y="2121408"/>
            <a:ext cx="502920" cy="32004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360920" y="2121408"/>
            <a:ext cx="502920" cy="32004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66360"/>
            <a:ext cx="102412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Arial"/>
              </a:rPr>
              <a:t>The labs repeatedly use this hierarchy: sign in to the tenant, work inside a subscription, place resources in rg-az500-&lt;initials&gt;, then apply identity, network, workload, data and SecOps controls.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Two-Day Azure Lab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Identity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RBAC, PIM, CA and managed identities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Network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NSG, ASG, Firewall, WAF and Private Endpoints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Platform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Compute, storage, SQL and Key Vault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Operations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Defender, Policy, Sentinel and playbooks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The slide deck, Learner Guide and Lesson Plan follow this same lab sequence.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Azure Services Practised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Entra ID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RBAC, PIM, CA and app consent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Network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Segmentation and protected access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Data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Storage, SQL, secrets and keys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SecOps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Secure score, Sentinel and automation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Service groups in the diagram map directly to Labs 1-8 and the AZ-500 lab domains.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Security Posture Management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Assess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Review exposure and current controls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Harden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Apply least privilege and protection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Detect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Use Defender and Sentinel signals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Respond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Investigate and automate playbooks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The course moves from prevention to detection, investigation and response.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Sentinel Investigation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Collect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Connect Log Analytics data sources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Detect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Create analytics rules and alerts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Investigate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Triage incidents and entities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Automate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Run playbooks and close the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Lab 8 closes the course with monitoring, investigation and automation.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AZ-500 Lab Domain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514600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Domain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Secure identity and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25146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Domain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3-4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Secure networking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146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Domain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5-6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Secure compute, storage and databases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51460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rial"/>
              </a:rPr>
              <a:t>Domain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7-8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Manage security 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AZ-500 Lab Domain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743200" cy="566928"/>
          </a:xfrm>
          <a:prstGeom prst="rect">
            <a:avLst/>
          </a:prstGeom>
          <a:solidFill>
            <a:srgbClr val="1F6FE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039112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828800"/>
            <a:ext cx="2743200" cy="566928"/>
          </a:xfrm>
          <a:prstGeom prst="rect">
            <a:avLst/>
          </a:prstGeom>
          <a:solidFill>
            <a:srgbClr val="1F6FE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039112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828800"/>
            <a:ext cx="2743200" cy="566928"/>
          </a:xfrm>
          <a:prstGeom prst="rect">
            <a:avLst/>
          </a:prstGeom>
          <a:solidFill>
            <a:srgbClr val="1F6FE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039112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Security Outcome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1828800"/>
            <a:ext cx="2743200" cy="566928"/>
          </a:xfrm>
          <a:prstGeom prst="rect">
            <a:avLst/>
          </a:prstGeom>
          <a:solidFill>
            <a:srgbClr val="1F6FE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19" y="2039112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Priority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395728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19" y="2560320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Identity and 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395728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560320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1-2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395728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560320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Least privilege and secure app access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2395728"/>
            <a:ext cx="2743200" cy="566928"/>
          </a:xfrm>
          <a:prstGeom prst="rect">
            <a:avLst/>
          </a:prstGeom>
          <a:solidFill>
            <a:srgbClr val="FCA5A5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19" y="2560320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High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962656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" y="3127248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Networking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2962656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3127248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3-4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962656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127248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Segmentation and protected ingress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0" y="2962656"/>
            <a:ext cx="2743200" cy="566928"/>
          </a:xfrm>
          <a:prstGeom prst="rect">
            <a:avLst/>
          </a:prstGeom>
          <a:solidFill>
            <a:srgbClr val="FCA5A5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19" y="3127248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High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529584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694176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Platform and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3529584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3694176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5-6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3529584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3694176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Compute, storage, SQL and secrets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69680" y="3529584"/>
            <a:ext cx="2743200" cy="566928"/>
          </a:xfrm>
          <a:prstGeom prst="rect">
            <a:avLst/>
          </a:prstGeom>
          <a:solidFill>
            <a:srgbClr val="FCA5A5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19" y="3694176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High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096512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19" y="4261104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Security operations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80" y="4096512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0" y="4261104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7-8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4096512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4261104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Posture, detection and response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69680" y="4096512"/>
            <a:ext cx="2743200" cy="566928"/>
          </a:xfrm>
          <a:prstGeom prst="rect">
            <a:avLst/>
          </a:prstGeom>
          <a:solidFill>
            <a:srgbClr val="FCA5A5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19" y="4261104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High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5074920"/>
            <a:ext cx="100584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Arial"/>
              </a:rPr>
              <a:t>This matrix keeps the deck, Learner Guide and Lesson Plan aligned to the eight AZ-500 labs.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Azure Defense-in-Depth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91640"/>
            <a:ext cx="9875520" cy="585216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65376"/>
            <a:ext cx="941832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Identity and Privileged Access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2313432"/>
            <a:ext cx="8869680" cy="58521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2487168"/>
            <a:ext cx="841248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Network Segmentation and Ingress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2935224"/>
            <a:ext cx="7863840" cy="5852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3108960"/>
            <a:ext cx="740664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Compute, Storage and Database Controls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3557016"/>
            <a:ext cx="6858000" cy="58521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3730752"/>
            <a:ext cx="640080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Policy, Defender and Sentinel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4178808"/>
            <a:ext cx="5852160" cy="585216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4352544"/>
            <a:ext cx="539496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Evidence, Response and Improvement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349240"/>
            <a:ext cx="987552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Arial"/>
              </a:rPr>
              <a:t>Learners move from preventive controls to detection, investigation, automation and evidence capture.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Configure RBAC, Custom Roles, and Privileged Access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1 - Secure identity and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configure Azure role-based access control, create a scoped custom role, and review privileged access patterns with Microsoft Entra Privileged Identity Management.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labs/lab-01-identity-rbac-pim.md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Create the training resource...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Review inherited access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Assign a built-in role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Create a custom role definition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Create the training resource group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Review inherited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Assign a built-in role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Create a custom role definition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Review privileged identity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Azure RBAC scopes permissions.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built-in and custom roles differ.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PIM reduces standing privilege.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How to document missing identity licensing or permissions during security reviews.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Secure App Access with Conditional Access and Managed Identities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1 - Secure identity and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review Conditional Access, app registrations, service principals, OAuth consent, and managed identities. These controls are central to secure identity and application access in Azure.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labs/lab-02-conditional-access-managed-identities.md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Review Conditional Access...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Review sign-in impact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Create an app registration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Review API permissions and...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Review Conditional Access policies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Review sign-in impact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Create an app registration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Review API permissions and consent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Enable a managed identity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report-only Conditional Access protects against accidental lockout.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app registrations expose API permissions and consent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managed identities replace application secrets.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How service principals connect applications to Azure RBAC.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Secure Virtual Networks with NSGs, ASGs, Peering, and Network Watcher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2 - Secure networking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create a segmented virtual network, apply Network Security Groups, use Application Security Groups, and validate traffic using Network Watcher.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labs/lab-03-network-security-nsg-asg.md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Create a virtual network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Create application security...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Create network security groups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Associate NSGs to subnets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Create a virtual network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Create application security groups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Create network security groups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Associate NSGs to subnets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Use Network Watcher IP flow 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NSGs enforce subnet and NIC-level traffic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ASGs make rules easier to manage.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Network Watcher validates network security behavior.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Why least privilege network design uses explicit tier 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Protect Public and Private Access with Azure Firewall, WAF, and Private Endpoints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2 - Secure networking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design public and private access protections using Azure Firewall, Web Application Firewall concepts, and Private Endpoints. Some resources can be reviewed instead of deployed if...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labs/lab-04-firewall-waf-private-endpoints.md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Plan firewall placement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Review firewall policy rules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Review WAF protection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Create a storage account...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Plan firewall placement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Review firewall policy rules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Review WAF protection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Create a storage account private endpoint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Review public access settings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When to use Azure Firewall, WAF, and Private Endpoints.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firewall policies organize network and application rules.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private access reduces public attack surface.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How to document cost-sensitive security resources without deploying every component.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Secure Virtual Machines, Bastion, JIT Access, and Disk Encryption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3 - Secure compute, storage, and databases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secure administrative access to virtual machines and review compute hardening options such as Bastion, Just-in-Time access, and disk encryption.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labs/lab-05-compute-security-vm-bastion-jit.md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Create a test virtual machine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Deploy or review Azure Bastion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Remove public management exposure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Configure Just-in-Time VM access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Create a test virtual machine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Deploy or review Azure Bastion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Remove public management exposure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Configure Just-in-Time VM access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Review disk encryption options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Bastion reduces VM management exposure.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JIT limits management ports to approved time windows.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NSGs, Defender for Cloud, and encryption combine for VM security.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How to choose between platform-managed and customer-managed encryption.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Protect Storage, SQL Database, and Key Vault Secrets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3 - Secure compute, storage, and databases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configure security controls for Azure Storage, Azure SQL Database, and Azure Key Vault.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labs/lab-06-storage-sql-key-vault.md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Harden storage account access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Review storage keys and shared...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Create a Key Vault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Add and protect a secret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Harden storage account 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Review storage keys and shared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Create a Key Vault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Add and protect a secret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Create or review Azure SQL Database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to harden storage access and recovery settings.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Key Vault protects keys, secrets, and certificates.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Azure SQL Database security features map to confidentiality and audit requirements.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Why secret values should not be copied into lab submissions.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Manage Security Posture with Azure Policy and Defender for Cloud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4 - Manage security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use Azure Policy and Microsoft Defender for Cloud to assess compliance, secure score, and recommended remediation 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labs/lab-07-defender-policy-secure-score.md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Assign an Azure Policy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Review compliance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Open Defender for Cloud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Review regulatory compliance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Assign an Azure Policy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Review compliance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Open Defender for Cloud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Review regulatory compliance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Review Defender plans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Azure Policy enforces governance.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Defender for Cloud calculates secure score.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recommendations support remediation.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How compliance standards map technical controls to frameworks.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Monitor, Investigate, and Automate with Microsoft Sentinel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4 - Manage security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configure a Microsoft Sentinel workspace, connect data, run KQL queries, create an analytics rule, and review automation options.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labs/lab-08-sentinel-monitor-investigate-automate.md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Create a Log Analytics workspace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Enable Microsoft Sentinel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Connect Azure activity data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Run basic KQL queries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Create a Log Analytics workspace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Enable Microsoft Sentinel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Connect Azure activity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Run basic KQL queries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Create an analytics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30752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950208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6 - Review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Sentinel uses Log Analytics workspaces.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data connectors bring telemetry into the SIEM.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KQL supports investigation.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How analytics rules and automation support alerting and response.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Course Wrap-Up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You configured identity, network, compute, data and security operations controls across the eight labs.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You practised evidence-based security review when licensing or permission limits blocked deployment.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Delete remaining training resources unless the instructor asks you to preserve them for assessment.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PRACTICE EXAM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Take the Online AZ-500 Practice Exams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Reinforce AZ-500 domains with realistic, exam-style questions before assessment 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24327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70048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Use practice sets to test identity, network, platform, data and security operations controls.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74135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19856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Review mode helps you check the correct answer and revisit the concept after each question.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23944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169664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Complete the practice questions from Google Classroom, then bring difficult items to 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12080"/>
            <a:ext cx="43891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1">
                <a:solidFill>
                  <a:srgbClr val="111827"/>
                </a:solidFill>
                <a:latin typeface="Arial"/>
              </a:rPr>
              <a:t>Access and practise at: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532120"/>
            <a:ext cx="4663440" cy="292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  <a:hlinkClick r:id="rId2"/>
              </a:rPr>
              <a:t>Tertiary Exams &gt; Search AZ-500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3560" y="1828800"/>
            <a:ext cx="5715000" cy="4279392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06440" y="1965960"/>
            <a:ext cx="228600" cy="2286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08192" y="1993392"/>
            <a:ext cx="146304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Tertiary Exams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1993392"/>
            <a:ext cx="86868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80" b="0">
                <a:solidFill>
                  <a:srgbClr val="111827"/>
                </a:solidFill>
                <a:latin typeface="Arial"/>
              </a:rPr>
              <a:t>Practice Exam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993392"/>
            <a:ext cx="68580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80" b="0">
                <a:solidFill>
                  <a:srgbClr val="111827"/>
                </a:solidFill>
                <a:latin typeface="Arial"/>
              </a:rPr>
              <a:t>About 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61320" y="1920240"/>
            <a:ext cx="530352" cy="219456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25328" y="1975104"/>
            <a:ext cx="411480" cy="7315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480" b="1">
                <a:solidFill>
                  <a:srgbClr val="FFFFFF"/>
                </a:solidFill>
                <a:latin typeface="Arial"/>
              </a:rPr>
              <a:t>Get started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2542032"/>
            <a:ext cx="438912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50" b="1">
                <a:solidFill>
                  <a:srgbClr val="111827"/>
                </a:solidFill>
                <a:latin typeface="Arial"/>
              </a:rPr>
              <a:t>Microsoft Azure Security Engineer Associate (AZ-500) Practice Exams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3154680"/>
            <a:ext cx="98755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53328" y="3273552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" b="1">
                <a:solidFill>
                  <a:srgbClr val="4B5563"/>
                </a:solidFill>
                <a:latin typeface="Arial"/>
              </a:rPr>
              <a:t>MODE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3328" y="3474720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Practice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648456"/>
            <a:ext cx="804672" cy="320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40880" y="3154680"/>
            <a:ext cx="98755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50608" y="3273552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" b="1">
                <a:solidFill>
                  <a:srgbClr val="4B5563"/>
                </a:solidFill>
                <a:latin typeface="Arial"/>
              </a:rPr>
              <a:t>FOCUS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3474720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AZ-500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0" y="3648456"/>
            <a:ext cx="804672" cy="320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38160" y="3154680"/>
            <a:ext cx="98755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47888" y="3273552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" b="1">
                <a:solidFill>
                  <a:srgbClr val="4B5563"/>
                </a:solidFill>
                <a:latin typeface="Arial"/>
              </a:rPr>
              <a:t>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3474720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Class link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3648456"/>
            <a:ext cx="804672" cy="320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921240" y="2834640"/>
            <a:ext cx="1143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0" y="2971800"/>
            <a:ext cx="868680" cy="137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20" b="1">
                <a:solidFill>
                  <a:srgbClr val="4B5563"/>
                </a:solidFill>
                <a:latin typeface="Arial"/>
              </a:rPr>
              <a:t>PRACTICE DETAILS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3218688"/>
            <a:ext cx="82296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50" b="0">
                <a:solidFill>
                  <a:srgbClr val="111827"/>
                </a:solidFill>
                <a:latin typeface="Arial"/>
              </a:rPr>
              <a:t>Exam code  AZ-500
Use        Review
Domains   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514600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Written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1 hr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Open book. Complete the WA before 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25146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Practical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1 hr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Use the LMS and lab evidence as instructed.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146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Required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Take assessment attendance before starting.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51460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rial"/>
              </a:rPr>
              <a:t>Funding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SSG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Meet attendance and assessment requirements.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 Flow Reminder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TRAQOM digital
attendance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99232" y="235915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Assessment digital
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48072" y="2359152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Sit WA then
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96912" y="2359152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Submit answers on
the LMS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4575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Sign Assessment
Summary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074920"/>
            <a:ext cx="78638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Arial"/>
              </a:rPr>
              <a:t>The TRAQOM QR code and LMS submission are both handled through the LMS/TMS portal.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TRAQOM - SSG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Complete SSG TRAQOM digital attendance at the required checkpoints.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Use the same registered learner identity throughout the course.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Assessment digital attendance is separate from class attendance.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The TRAQOM QR code and LMS submission are provided through the LMS/TMS portal.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Thank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Submit all assessment responses on the LMS.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Sign the Assessment Summary Record.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Contact Tertiary Infotech Academy for post-course support.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