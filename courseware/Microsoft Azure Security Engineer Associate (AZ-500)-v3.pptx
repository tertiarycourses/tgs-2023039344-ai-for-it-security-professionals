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9344---Microsoft-Azure-Security-Engineer-Associate-AZ-500-/tree/main/lab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502920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80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1430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200" b="1">
                <a:solidFill>
                  <a:srgbClr val="111827"/>
                </a:solidFill>
                <a:latin typeface="Arial"/>
              </a:rPr>
              <a:t>Microsoft Azure Security Engineer Associate (AZ-500)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4B5563"/>
                </a:solidFill>
                <a:latin typeface="Arial"/>
              </a:rPr>
              <a:t>TGS-2023039344 | Hands-On Labs | Tertiary Infotech Academy Pte Ltd | UEN: 201200696W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95560" y="598932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00" b="1">
                <a:solidFill>
                  <a:srgbClr val="1F6FEB"/>
                </a:solidFill>
                <a:latin typeface="Arial"/>
              </a:rPr>
              <a:t>Version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Copyright Notice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Copyright 2026 Tertiary Infotech Academy Pte Ltd.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Materials are for enrolled learners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 not redistribute assessment or trainer materials.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Tertiary Infotech Academy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WSQ course provider delivering ICT and business technology training.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UEN: 201200696W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Training format: instructor-led, hands-on, assessment-ready.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 - GENERAL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73352" y="2395728"/>
            <a:ext cx="1554480" cy="155448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100" b="1">
                <a:solidFill>
                  <a:srgbClr val="111827"/>
                </a:solidFill>
                <a:latin typeface="Arial"/>
              </a:rPr>
              <a:t>Your Trainer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19472"/>
            <a:ext cx="306324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659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22402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256032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56032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97479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TITLE / DESIGNATION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40" y="297180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329184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342900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370332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402336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16052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92040" y="443484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475488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754880"/>
            <a:ext cx="73152" cy="56692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89204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92040" y="516636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5486400"/>
            <a:ext cx="6812280" cy="5669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17720" y="5486400"/>
            <a:ext cx="73152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92040" y="5623560"/>
            <a:ext cx="25603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10B981"/>
                </a:solidFill>
                <a:latin typeface="Arial"/>
              </a:rPr>
              <a:t>CONTACT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5897880"/>
            <a:ext cx="4069080" cy="13716"/>
          </a:xfrm>
          <a:prstGeom prst="rect">
            <a:avLst/>
          </a:prstGeom>
          <a:solidFill>
            <a:srgbClr val="D0D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91640" y="233172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389120"/>
            <a:ext cx="30632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rial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919472"/>
            <a:ext cx="3063240" cy="56692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50" b="1">
                <a:solidFill>
                  <a:srgbClr val="4B5563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828800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828800"/>
            <a:ext cx="73152" cy="8686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993392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67712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907791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17720" y="2907791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072384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QUALIFICATIONS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346703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PhD - specialises in AI, automation, software engineering and cloud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3986783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3986783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4151375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425696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WSQ courses on cloud fundamentals, AI, automation and app development.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7720" y="5065776"/>
            <a:ext cx="6812280" cy="868680"/>
          </a:xfrm>
          <a:prstGeom prst="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5065776"/>
            <a:ext cx="73152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5230368"/>
            <a:ext cx="617220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504688"/>
            <a:ext cx="617220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Ground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2020824"/>
            <a:ext cx="530352" cy="53035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691640"/>
            <a:ext cx="73152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7688" y="2020824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756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91840"/>
            <a:ext cx="73152" cy="1143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3621024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918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29184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7688" y="3621024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758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89204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5221224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92040"/>
            <a:ext cx="5303520" cy="1143000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892040"/>
            <a:ext cx="73152" cy="1143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47688" y="5221224"/>
            <a:ext cx="530352" cy="530352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5276088"/>
            <a:ext cx="3977639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0">
                <a:solidFill>
                  <a:srgbClr val="111827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Learner 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Share your name, role and Azure security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State one identity, network or monitoring control you want to practise.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Confirm your access to the assigned Azure subscription or sandbox.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RBAC, PIM, Conditional Access and managed identities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NSG, ASG, Firewall, WAF and Private Endpoint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Bastion, JIT, encryption, SQL, Storage and Key Vault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Defender for Cloud, Policy, Sentinel and playbooks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is open book and conducted through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WA first, then 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lab evidence and screenshots where instructed.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Ask for clarification before the assessment starts, not during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https://github.com/tertiarycourses/TGS-2023039344---Microsoft-Azure-Security-Engineer-Associate-AZ-500-/tree/main/labs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3246120" cy="1965960"/>
          </a:xfrm>
          <a:prstGeom prst="roundRect">
            <a:avLst/>
          </a:prstGeom>
          <a:solidFill>
            <a:srgbClr val="E8F0F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Clone the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 clone https://github.com/tertiarycourses/TGS-2023039344---Microsoft-Azure-Security-Engineer-Associate-AZ-500-.git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246120" cy="1965960"/>
          </a:xfrm>
          <a:prstGeom prst="roundRect">
            <a:avLst/>
          </a:prstGeom>
          <a:solidFill>
            <a:srgbClr val="E8F7EE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Option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Download the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GitHub Code menu &gt; Download ZIP, then open the labs folder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19" y="2148840"/>
            <a:ext cx="3246120" cy="1965960"/>
          </a:xfrm>
          <a:prstGeom prst="roundRect">
            <a:avLst/>
          </a:prstGeom>
          <a:solidFill>
            <a:srgbClr val="FFF4E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359152"/>
            <a:ext cx="283464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97480"/>
            <a:ext cx="28346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Arial"/>
              </a:rPr>
              <a:t>Use the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127248"/>
            <a:ext cx="283464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0">
                <a:solidFill>
                  <a:srgbClr val="4B5563"/>
                </a:solidFill>
                <a:latin typeface="Arial"/>
              </a:rPr>
              <a:t>Follow each lab in Azure Portal using the instructor-provided subscription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111827"/>
                </a:solidFill>
                <a:latin typeface="Arial"/>
              </a:rPr>
              <a:t>Record screenshots or notes where the lab asks for evidence. If a feature is unavailable because of licensing or permission limits, document the exact blocker.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Download the courseware and submit assessment answers at https://lms-tms.tertiaryinfotech.com/.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LMS for TRAQOM QR code, assessment attendance and submission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Keep your learner account active until all assessment records are signed.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Lesson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1: Labs 1-4 - identity, privileged access, Conditional Access, managed identities and network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Day 2: Labs 5-8 - compute, data protection, Defender for Cloud, Sentinel investigation and automation.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All lab work uses the assigned training subscription and `rg-az500-&lt;initials&gt;` unless your trainer instructs otherwise.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CORE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Resource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920240" cy="77724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920240"/>
            <a:ext cx="1920240" cy="7772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023360"/>
            <a:ext cx="192024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Tags / RBAC /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9204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360920" y="2121408"/>
            <a:ext cx="502920" cy="320040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4B5563"/>
                </a:solidFill>
                <a:latin typeface="Arial"/>
              </a:rPr>
              <a:t>The labs repeatedly use this hierarchy: sign in to the tenant, work inside a subscription, place resources in rg-az500-&lt;initials&gt;, then apply identity, network, workload, data and SecOps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Two-Day Azure Lab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Identity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managed identities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NSG, ASG, Firewall, WAF and Private Endpoints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Platform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Compute, storage, SQL and Key Vault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Operations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Defender, Policy, Sentinel and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slide deck, Learner Guide and Lesson Plan follow this same lab sequence.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Services Practised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Entra ID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RBAC, PIM, CA and app consent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Network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Segmentation and protected access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Data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Storage, SQL, secrets and keys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SecOps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Secure score, Sentinel and automation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Service groups in the diagram map directly to Labs 1-8 and the AZ-500 lab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Security Posture Management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Assess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Review exposure and current controls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Harden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Apply least privilege and protection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Use Defender and Sentinel signals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Respond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Investigate and automate playbooks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The course moves from prevention to detection, investigation and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Sentinel Investigation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74519"/>
            <a:ext cx="2148840" cy="182880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Collect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Connect Log Analytics data sources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62656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11880" y="1874519"/>
            <a:ext cx="2148840" cy="1828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Detect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Create analytics rules and alerts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61304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148840" cy="182880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Investigate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Triage incidents and entities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59952" y="2587752"/>
            <a:ext cx="502920" cy="310896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9176" y="1874519"/>
            <a:ext cx="2148840" cy="1828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Automate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Arial"/>
              </a:rPr>
              <a:t>Run playbooks and close the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754880"/>
            <a:ext cx="9966960" cy="676656"/>
          </a:xfrm>
          <a:prstGeom prst="roundRect">
            <a:avLst/>
          </a:prstGeom>
          <a:solidFill>
            <a:srgbClr val="F3F7F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907024"/>
            <a:ext cx="105156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Arial"/>
              </a:rPr>
              <a:t>Lab 8 closes the course with monitoring, investigation and automation.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Domain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identity and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Domain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3-4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networking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Domain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Secure compute, storage and databases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Domain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Labs 7-8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Manage security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AZ-500 Lab Domain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Security Outcome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828800"/>
            <a:ext cx="2743200" cy="566928"/>
          </a:xfrm>
          <a:prstGeom prst="rect">
            <a:avLst/>
          </a:prstGeom>
          <a:solidFill>
            <a:srgbClr val="1F6FEB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2039112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Identity and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1-2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95728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Least privilege and secure app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395728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2560320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Networking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3-4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962656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Segmentation and protected ingress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62656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Platform and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5-6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29584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Compute, storage, SQL and secrets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529584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19" y="3694176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1">
                <a:solidFill>
                  <a:srgbClr val="111827"/>
                </a:solidFill>
                <a:latin typeface="Arial"/>
              </a:rPr>
              <a:t>Security operations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747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7-8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096512"/>
            <a:ext cx="2743200" cy="566928"/>
          </a:xfrm>
          <a:prstGeom prst="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Posture, detection and response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4096512"/>
            <a:ext cx="2743200" cy="566928"/>
          </a:xfrm>
          <a:prstGeom prst="rect">
            <a:avLst/>
          </a:prstGeom>
          <a:solidFill>
            <a:srgbClr val="FCA5A5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19" y="4261104"/>
            <a:ext cx="2560320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50" b="0">
                <a:solidFill>
                  <a:srgbClr val="111827"/>
                </a:solidFill>
                <a:latin typeface="Arial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074920"/>
            <a:ext cx="1005840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This matrix keeps the deck, Learner Guide and Lesson Plan aligned to the eight AZ-500 labs.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Azure Defense-in-Depth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691640"/>
            <a:ext cx="9875520" cy="58521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65376"/>
            <a:ext cx="941832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Identity and Privileged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313432"/>
            <a:ext cx="8869680" cy="58521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487168"/>
            <a:ext cx="841248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Network Segmentation and Ingress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35224"/>
            <a:ext cx="7863840" cy="5852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3108960"/>
            <a:ext cx="740664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Compute, Storage and Database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557016"/>
            <a:ext cx="6858000" cy="58521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3730752"/>
            <a:ext cx="640080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Policy, Defender and Sentinel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4178808"/>
            <a:ext cx="5852160" cy="585216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4352544"/>
            <a:ext cx="5394960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Evidence, Response and Improvement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9875520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Arial"/>
              </a:rPr>
              <a:t>Learners move from preventive controls to detection, investigation, automation and evidence capture.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Configure RBAC, Custom Roles, and Privileged Access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Azure role-based access control, create a scoped custom role, and review privileged access patterns with Microsoft Entra Privileged Identity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labs/lab-01-identity-rbac-pim.md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the training resource...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the training resource group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inherited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Assign a built-in role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custom role definition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privileged identity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1 -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RBAC scopes permissions.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built-in and custom roles differ.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PIM reduces standing privilege.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missing identity licensing or permissions during security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Secure App Access with Conditional Access and Managed Identities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1 - Secure identity and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review Conditional Access, app registrations, service principals, OAuth consent, and managed identities. These controls are central to secure identity and application access in Azure.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labs/lab-02-conditional-access-managed-identities.md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Review Conditional Access...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API permissions and...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Review Conditional Access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sign-in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an app registration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API permissions and consent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Enable a managed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2 -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report-only Conditional Access protects against accidental lockout.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app registrations expose API permissions and consent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managed identities replace application secrets.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service principals connect applications to Azure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Secure Virtual Networks with NSGs, ASGs, Peering, and Network Watcher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create a segmented virtual network, apply Network Security Groups, use Application Security Groups, and validate traffic using Network Watcher.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labs/lab-03-network-security-nsg-asg.md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Create application security...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virtual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Create application security groups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network security groups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Associate NSGs to subnets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Use Network Watcher IP flow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3 -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NSGs enforce subnet and NIC-level traffic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ASGs make rules easier to manage.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Network Watcher validates network security behavior.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least privilege network design uses explicit tier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Protect Public and Private Access with Azure Firewall, WAF, and Private Endpoints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2 - Secure networking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design public and private access protections using Azure Firewall, Web Application Firewall concepts, and Private Endpoints. Some resources can be reviewed instead of deployed if...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labs/lab-04-firewall-waf-private-endpoints.md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Create a storage account...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Plan firewall placement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firewall policy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Review WAF protection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Create a storage account private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public access settings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4 -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When to use Azure Firewall, WAF, and Private Endpoints.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firewall policies organize network and application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private access reduces public attack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document cost-sensitive security resources without deploying every component.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Secure Virtual Machines, Bastion, JIT Access, and Disk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secure administrative access to virtual machines and review compute hardening options such as Bastion, Just-in-Time access, and disk encryption.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labs/lab-05-compute-security-vm-bastion-jit.md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test virtual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Deploy or review Azure Bastion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Remove public management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Configure Just-in-Time VM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disk encryption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5 -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Bastion reduces VM management exposure.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JIT limits management ports to approved time windows.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NSGs, Defender for Cloud, and encryption combine for VM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to choose between platform-managed and customer-managed encryption.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Protect Storage, SQL Database, and Key Vault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3 - Secure compute, storage, and databases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security controls for Azure Storage, Azure SQL Database, and Azure Key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labs/lab-06-storage-sql-key-vault.md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storage keys and shared...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Harden storage account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storage keys and shared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Create a Key Vault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Add and protect a secret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or review Azure SQL Database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6 -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to harden storage access and recovery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Key Vault protects keys, secrets, and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Azure SQL Database security features map to confidentiality and audit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Why secret values should not be copied into lab submissions.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Manage Security Posture with Azure Policy and Defender for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use Azure Policy and Microsoft Defender for Cloud to assess compliance, secure score, and recommended remediation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labs/lab-07-defender-policy-secure-score.md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Review compliance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Assign an Azure Policy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Review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Open Defender for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Review regulatory compliance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Review Defender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7 -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Azure Policy enforces governance.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Defender for Cloud calculates secure score.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recommendations support remediation.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compliance standards map technical controls to frameworks.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Monitor, Investigate, and Automate with Microsoft Sentinel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4800600" cy="4434840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2519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Domain 4 - Manage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04288"/>
            <a:ext cx="425196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In this lab you will configure a Microsoft Sentinel workspace, connect data, run KQL queries, create an analytics rule, and review automation options.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Day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5074920"/>
            <a:ext cx="1234440" cy="384048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F6FEB"/>
                </a:solidFill>
                <a:latin typeface="Arial"/>
              </a:rPr>
              <a:t>labs/lab-08-sentinel-monitor-investigate-automate.md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3904" y="5074920"/>
            <a:ext cx="1234440" cy="384048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5175504"/>
            <a:ext cx="1078992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10B981"/>
                </a:solidFill>
                <a:latin typeface="Arial"/>
              </a:rPr>
              <a:t>Hands-on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331720" cy="1051560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76488" y="2176272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23960" y="1783080"/>
            <a:ext cx="2331720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947672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221991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447288"/>
            <a:ext cx="2331720" cy="1051560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476488" y="3840480"/>
            <a:ext cx="365760" cy="256032"/>
          </a:xfrm>
          <a:prstGeom prst="right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23960" y="3447288"/>
            <a:ext cx="2331720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88552" y="3611880"/>
            <a:ext cx="1993392" cy="1645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STEP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886200"/>
            <a:ext cx="1993392" cy="38404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7379208" y="2907792"/>
            <a:ext cx="292608" cy="420624"/>
          </a:xfrm>
          <a:prstGeom prst="downArrow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5074920"/>
            <a:ext cx="4846320" cy="4389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Follow the Learner Guide exactly for commands, portal fields, verification and cleanup.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Key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1 - Create a Log Analytics workspace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28232" y="1792224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1737360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2 - Enable Microsoft Sentinel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51760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3 - Connect Azure activity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2823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816352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4 - Run basic KQL queries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30752"/>
            <a:ext cx="5074920" cy="804672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5 - Create an analytics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30752"/>
            <a:ext cx="507492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950208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95344"/>
            <a:ext cx="4160520" cy="62179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Arial"/>
              </a:rPr>
              <a:t>Step 6 - Review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Lab 8 - Verify and Clean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074920" cy="3931920"/>
          </a:xfrm>
          <a:prstGeom prst="round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4348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10B981"/>
                </a:solidFill>
                <a:latin typeface="Arial"/>
              </a:rPr>
              <a:t>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How Sentinel uses Log Analytics workspaces.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10128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How data connectors bring telemetry into the SIEM.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77056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How KQL supports investigation.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43983"/>
            <a:ext cx="4434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How analytics rules and automation support alerting and response.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4983480" cy="39319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343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Arial"/>
              </a:rPr>
              <a:t>Cleanup 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1. Run the lab cleanup section exactly.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310128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2. Keep `rg-az500-&lt;initials&gt;` only when the next lab needs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877056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3. Confirm no paid resource is left running.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43983"/>
            <a:ext cx="4343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Arial"/>
              </a:rPr>
              <a:t>4. Lab 8 and the trainer's final instructions cover course cleanup.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Course Wrap-Up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configured identity, network, compute, data and security operations controls across the eight labs.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You practised evidence-based security review when licensing or permission limits blocked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Delete remaining training resources unless the instructor asks you to preserve them for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Take the Online AZ-500 Practice Exams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Reinforce AZ-500 domains with realistic, exam-style questions before assessment 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24327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Use practice sets to test identity, network, platform, data and security operations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74135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19856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Review mode helps you check the correct answer and revisit the concept after each question.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466344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1">
                <a:solidFill>
                  <a:srgbClr val="1F6FEB"/>
                </a:solidFill>
                <a:latin typeface="Arial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169664"/>
            <a:ext cx="4434840" cy="47548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50" b="0">
                <a:solidFill>
                  <a:srgbClr val="111827"/>
                </a:solidFill>
                <a:latin typeface="Arial"/>
              </a:rPr>
              <a:t>Complete the practice questions from Google Classroom, then bring difficult items to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43891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50" b="1">
                <a:solidFill>
                  <a:srgbClr val="111827"/>
                </a:solidFill>
                <a:latin typeface="Arial"/>
              </a:rPr>
              <a:t>Access and practise at: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32120"/>
            <a:ext cx="466344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Google Classroom &gt; Practice Exams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715000" cy="4279392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1965960"/>
            <a:ext cx="228600" cy="2286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8192" y="1993392"/>
            <a:ext cx="146304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Tertiary 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993392"/>
            <a:ext cx="8686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Practice Exam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93392"/>
            <a:ext cx="685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80" b="0">
                <a:solidFill>
                  <a:srgbClr val="111827"/>
                </a:solidFill>
                <a:latin typeface="Arial"/>
              </a:rPr>
              <a:t>About 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1920240"/>
            <a:ext cx="530352" cy="219456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1975104"/>
            <a:ext cx="411480" cy="7315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48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42032"/>
            <a:ext cx="4389120" cy="25603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1">
                <a:solidFill>
                  <a:srgbClr val="111827"/>
                </a:solidFill>
                <a:latin typeface="Arial"/>
              </a:rPr>
              <a:t>Microsoft Azure Security Engineer Associate (AZ-500) Practice Exams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MODE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Practice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648456"/>
            <a:ext cx="804672" cy="3200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060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AZ-500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648456"/>
            <a:ext cx="804672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3154680"/>
            <a:ext cx="987552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3273552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" b="1">
                <a:solidFill>
                  <a:srgbClr val="4B5563"/>
                </a:solidFill>
                <a:latin typeface="Arial"/>
              </a:rPr>
              <a:t>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474720"/>
            <a:ext cx="731520" cy="914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650" b="1">
                <a:solidFill>
                  <a:srgbClr val="111827"/>
                </a:solidFill>
                <a:latin typeface="Arial"/>
              </a:rPr>
              <a:t>Class link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48456"/>
            <a:ext cx="804672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921240" y="2834640"/>
            <a:ext cx="1143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0" y="2971800"/>
            <a:ext cx="868680" cy="137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20" b="1">
                <a:solidFill>
                  <a:srgbClr val="4B5563"/>
                </a:solidFill>
                <a:latin typeface="Arial"/>
              </a:rPr>
              <a:t>PRACTICE DETAILS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3218688"/>
            <a:ext cx="82296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550" b="0">
                <a:solidFill>
                  <a:srgbClr val="111827"/>
                </a:solidFill>
                <a:latin typeface="Arial"/>
              </a:rPr>
              <a:t>Exam code  AZ-500
Use        Review
Domains   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2514600" cy="16459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F6FEB"/>
                </a:solidFill>
                <a:latin typeface="Arial"/>
              </a:rPr>
              <a:t>Written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Open book. Complete the WA before 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828800"/>
            <a:ext cx="2514600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Arial"/>
              </a:rPr>
              <a:t>Practical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Use the LMS and lab evidence as instructed.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828800"/>
            <a:ext cx="2514600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Arial"/>
              </a:rPr>
              <a:t>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Take assessment attendance before starting.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828800"/>
            <a:ext cx="2514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828800"/>
            <a:ext cx="2514600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240280"/>
            <a:ext cx="2057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rial"/>
              </a:rPr>
              <a:t>Funding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788920"/>
            <a:ext cx="2057400" cy="7772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600" b="1">
                <a:solidFill>
                  <a:srgbClr val="111827"/>
                </a:solidFill>
                <a:latin typeface="Arial"/>
              </a:rPr>
              <a:t>SSG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794760"/>
            <a:ext cx="205740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Meet attendance and assessment requirements.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Assessment Flow Reminder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TRAQOM digital
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99232" y="2359152"/>
            <a:ext cx="438912" cy="43891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Assessment digital
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4807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Sit WA then
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Submit answers on
the 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971800"/>
            <a:ext cx="256032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Arial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81160" y="2212848"/>
            <a:ext cx="1993392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45752" y="2359152"/>
            <a:ext cx="438912" cy="438912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26080"/>
            <a:ext cx="1536192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150" b="1">
                <a:solidFill>
                  <a:srgbClr val="111827"/>
                </a:solidFill>
                <a:latin typeface="Arial"/>
              </a:rPr>
              <a:t>Sign Assessment
Summary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074920"/>
            <a:ext cx="7863840" cy="34747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500" b="0">
                <a:solidFill>
                  <a:srgbClr val="4B5563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TRAQOM -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Complete SSG TRAQOM digital attendance at the required checkpoints.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Use the same registered learner identity throughout the course.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Assessment digital attendance is separate from class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9744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3272" y="5029200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974336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The TRAQOM QR code and LMS submission are provided through the LMS/TMS portal.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943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38912"/>
            <a:ext cx="10515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69848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Arial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72768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3272" y="1792224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Submit all assessment responses on the LMS.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51760"/>
            <a:ext cx="103327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871215"/>
            <a:ext cx="329184" cy="3291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816352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Sign the Assessment Summary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30752"/>
            <a:ext cx="10332720" cy="841248"/>
          </a:xfrm>
          <a:prstGeom prst="roundRect">
            <a:avLst/>
          </a:prstGeom>
          <a:solidFill>
            <a:srgbClr val="F8FAFC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33272" y="3950208"/>
            <a:ext cx="329184" cy="32918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895344"/>
            <a:ext cx="9418320" cy="6583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Arial"/>
              </a:rPr>
              <a:t>Contact Tertiary Infotech Academy for post-course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02920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00" b="0">
                <a:solidFill>
                  <a:srgbClr val="4B5563"/>
                </a:solidFill>
                <a:latin typeface="Arial"/>
              </a:rPr>
              <a:t>Microsoft Azure Security Engineer Associate (AZ-500) | TGS-2023039344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473952"/>
            <a:ext cx="347472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800" b="0">
                <a:solidFill>
                  <a:srgbClr val="4B5563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900" b="1">
                <a:solidFill>
                  <a:srgbClr val="4B5563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