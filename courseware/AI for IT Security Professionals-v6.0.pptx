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00.xml" ContentType="application/vnd.openxmlformats-officedocument.presentationml.notesSlide+xml"/>
  <Override PartName="/ppt/notesSlides/notesSlide301.xml" ContentType="application/vnd.openxmlformats-officedocument.presentationml.notesSlide+xml"/>
  <Override PartName="/ppt/notesSlides/notesSlide302.xml" ContentType="application/vnd.openxmlformats-officedocument.presentationml.notesSlide+xml"/>
  <Override PartName="/ppt/notesSlides/notesSlide303.xml" ContentType="application/vnd.openxmlformats-officedocument.presentationml.notesSlide+xml"/>
  <Override PartName="/ppt/notesSlides/notesSlide304.xml" ContentType="application/vnd.openxmlformats-officedocument.presentationml.notesSlide+xml"/>
  <Override PartName="/ppt/notesSlides/notesSlide305.xml" ContentType="application/vnd.openxmlformats-officedocument.presentationml.notesSlide+xml"/>
  <Override PartName="/ppt/notesSlides/notesSlide306.xml" ContentType="application/vnd.openxmlformats-officedocument.presentationml.notesSlide+xml"/>
  <Override PartName="/ppt/notesSlides/notesSlide307.xml" ContentType="application/vnd.openxmlformats-officedocument.presentationml.notesSlide+xml"/>
  <Override PartName="/ppt/notesSlides/notesSlide308.xml" ContentType="application/vnd.openxmlformats-officedocument.presentationml.notesSlide+xml"/>
  <Override PartName="/ppt/notesSlides/notesSlide30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10.xml" ContentType="application/vnd.openxmlformats-officedocument.presentationml.notesSlide+xml"/>
  <Override PartName="/ppt/notesSlides/notesSlide311.xml" ContentType="application/vnd.openxmlformats-officedocument.presentationml.notesSlide+xml"/>
  <Override PartName="/ppt/notesSlides/notesSlide312.xml" ContentType="application/vnd.openxmlformats-officedocument.presentationml.notesSlide+xml"/>
  <Override PartName="/ppt/notesSlides/notesSlide313.xml" ContentType="application/vnd.openxmlformats-officedocument.presentationml.notesSlide+xml"/>
  <Override PartName="/ppt/notesSlides/notesSlide314.xml" ContentType="application/vnd.openxmlformats-officedocument.presentationml.notesSlide+xml"/>
  <Override PartName="/ppt/notesSlides/notesSlide315.xml" ContentType="application/vnd.openxmlformats-officedocument.presentationml.notesSlide+xml"/>
  <Override PartName="/ppt/notesSlides/notesSlide316.xml" ContentType="application/vnd.openxmlformats-officedocument.presentationml.notesSlide+xml"/>
  <Override PartName="/ppt/notesSlides/notesSlide317.xml" ContentType="application/vnd.openxmlformats-officedocument.presentationml.notesSlide+xml"/>
  <Override PartName="/ppt/notesSlides/notesSlide318.xml" ContentType="application/vnd.openxmlformats-officedocument.presentationml.notesSlide+xml"/>
  <Override PartName="/ppt/notesSlides/notesSlide31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20.xml" ContentType="application/vnd.openxmlformats-officedocument.presentationml.notesSlide+xml"/>
  <Override PartName="/ppt/notesSlides/notesSlide321.xml" ContentType="application/vnd.openxmlformats-officedocument.presentationml.notesSlide+xml"/>
  <Override PartName="/ppt/notesSlides/notesSlide322.xml" ContentType="application/vnd.openxmlformats-officedocument.presentationml.notesSlide+xml"/>
  <Override PartName="/ppt/notesSlides/notesSlide323.xml" ContentType="application/vnd.openxmlformats-officedocument.presentationml.notesSlide+xml"/>
  <Override PartName="/ppt/notesSlides/notesSlide324.xml" ContentType="application/vnd.openxmlformats-officedocument.presentationml.notesSlide+xml"/>
  <Override PartName="/ppt/notesSlides/notesSlide325.xml" ContentType="application/vnd.openxmlformats-officedocument.presentationml.notesSlide+xml"/>
  <Override PartName="/ppt/notesSlides/notesSlide326.xml" ContentType="application/vnd.openxmlformats-officedocument.presentationml.notesSlide+xml"/>
  <Override PartName="/ppt/notesSlides/notesSlide327.xml" ContentType="application/vnd.openxmlformats-officedocument.presentationml.notesSlide+xml"/>
  <Override PartName="/ppt/notesSlides/notesSlide328.xml" ContentType="application/vnd.openxmlformats-officedocument.presentationml.notesSlide+xml"/>
  <Override PartName="/ppt/notesSlides/notesSlide329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30.xml" ContentType="application/vnd.openxmlformats-officedocument.presentationml.notesSlide+xml"/>
  <Override PartName="/ppt/notesSlides/notesSlide331.xml" ContentType="application/vnd.openxmlformats-officedocument.presentationml.notesSlide+xml"/>
  <Override PartName="/ppt/notesSlides/notesSlide332.xml" ContentType="application/vnd.openxmlformats-officedocument.presentationml.notesSlide+xml"/>
  <Override PartName="/ppt/notesSlides/notesSlide333.xml" ContentType="application/vnd.openxmlformats-officedocument.presentationml.notesSlide+xml"/>
  <Override PartName="/ppt/notesSlides/notesSlide334.xml" ContentType="application/vnd.openxmlformats-officedocument.presentationml.notesSlide+xml"/>
  <Override PartName="/ppt/notesSlides/notesSlide335.xml" ContentType="application/vnd.openxmlformats-officedocument.presentationml.notesSlide+xml"/>
  <Override PartName="/ppt/notesSlides/notesSlide336.xml" ContentType="application/vnd.openxmlformats-officedocument.presentationml.notesSlide+xml"/>
  <Override PartName="/ppt/notesSlides/notesSlide337.xml" ContentType="application/vnd.openxmlformats-officedocument.presentationml.notesSlide+xml"/>
  <Override PartName="/ppt/notesSlides/notesSlide338.xml" ContentType="application/vnd.openxmlformats-officedocument.presentationml.notesSlide+xml"/>
  <Override PartName="/ppt/notesSlides/notesSlide339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40.xml" ContentType="application/vnd.openxmlformats-officedocument.presentationml.notesSlide+xml"/>
  <Override PartName="/ppt/notesSlides/notesSlide341.xml" ContentType="application/vnd.openxmlformats-officedocument.presentationml.notesSlide+xml"/>
  <Override PartName="/ppt/notesSlides/notesSlide342.xml" ContentType="application/vnd.openxmlformats-officedocument.presentationml.notesSlide+xml"/>
  <Override PartName="/ppt/notesSlides/notesSlide343.xml" ContentType="application/vnd.openxmlformats-officedocument.presentationml.notesSlide+xml"/>
  <Override PartName="/ppt/notesSlides/notesSlide344.xml" ContentType="application/vnd.openxmlformats-officedocument.presentationml.notesSlide+xml"/>
  <Override PartName="/ppt/notesSlides/notesSlide345.xml" ContentType="application/vnd.openxmlformats-officedocument.presentationml.notesSlide+xml"/>
  <Override PartName="/ppt/notesSlides/notesSlide346.xml" ContentType="application/vnd.openxmlformats-officedocument.presentationml.notesSlide+xml"/>
  <Override PartName="/ppt/notesSlides/notesSlide347.xml" ContentType="application/vnd.openxmlformats-officedocument.presentationml.notesSlide+xml"/>
  <Override PartName="/ppt/notesSlides/notesSlide348.xml" ContentType="application/vnd.openxmlformats-officedocument.presentationml.notesSlide+xml"/>
  <Override PartName="/ppt/notesSlides/notesSlide349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50.xml" ContentType="application/vnd.openxmlformats-officedocument.presentationml.notesSlide+xml"/>
  <Override PartName="/ppt/notesSlides/notesSlide351.xml" ContentType="application/vnd.openxmlformats-officedocument.presentationml.notesSlide+xml"/>
  <Override PartName="/ppt/notesSlides/notesSlide352.xml" ContentType="application/vnd.openxmlformats-officedocument.presentationml.notesSlide+xml"/>
  <Override PartName="/ppt/notesSlides/notesSlide353.xml" ContentType="application/vnd.openxmlformats-officedocument.presentationml.notesSlide+xml"/>
  <Override PartName="/ppt/notesSlides/notesSlide354.xml" ContentType="application/vnd.openxmlformats-officedocument.presentationml.notesSlide+xml"/>
  <Override PartName="/ppt/notesSlides/notesSlide355.xml" ContentType="application/vnd.openxmlformats-officedocument.presentationml.notesSlide+xml"/>
  <Override PartName="/ppt/notesSlides/notesSlide356.xml" ContentType="application/vnd.openxmlformats-officedocument.presentationml.notesSlide+xml"/>
  <Override PartName="/ppt/notesSlides/notesSlide357.xml" ContentType="application/vnd.openxmlformats-officedocument.presentationml.notesSlide+xml"/>
  <Override PartName="/ppt/notesSlides/notesSlide358.xml" ContentType="application/vnd.openxmlformats-officedocument.presentationml.notesSlide+xml"/>
  <Override PartName="/ppt/notesSlides/notesSlide359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60.xml" ContentType="application/vnd.openxmlformats-officedocument.presentationml.notesSlide+xml"/>
  <Override PartName="/ppt/notesSlides/notesSlide361.xml" ContentType="application/vnd.openxmlformats-officedocument.presentationml.notesSlide+xml"/>
  <Override PartName="/ppt/notesSlides/notesSlide362.xml" ContentType="application/vnd.openxmlformats-officedocument.presentationml.notesSlide+xml"/>
  <Override PartName="/ppt/notesSlides/notesSlide363.xml" ContentType="application/vnd.openxmlformats-officedocument.presentationml.notesSlide+xml"/>
  <Override PartName="/ppt/notesSlides/notesSlide364.xml" ContentType="application/vnd.openxmlformats-officedocument.presentationml.notesSlide+xml"/>
  <Override PartName="/ppt/notesSlides/notesSlide365.xml" ContentType="application/vnd.openxmlformats-officedocument.presentationml.notesSlide+xml"/>
  <Override PartName="/ppt/notesSlides/notesSlide366.xml" ContentType="application/vnd.openxmlformats-officedocument.presentationml.notesSlide+xml"/>
  <Override PartName="/ppt/notesSlides/notesSlide367.xml" ContentType="application/vnd.openxmlformats-officedocument.presentationml.notesSlide+xml"/>
  <Override PartName="/ppt/notesSlides/notesSlide368.xml" ContentType="application/vnd.openxmlformats-officedocument.presentationml.notesSlide+xml"/>
  <Override PartName="/ppt/notesSlides/notesSlide369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70.xml" ContentType="application/vnd.openxmlformats-officedocument.presentationml.notesSlide+xml"/>
  <Override PartName="/ppt/notesSlides/notesSlide371.xml" ContentType="application/vnd.openxmlformats-officedocument.presentationml.notesSlide+xml"/>
  <Override PartName="/ppt/notesSlides/notesSlide372.xml" ContentType="application/vnd.openxmlformats-officedocument.presentationml.notesSlide+xml"/>
  <Override PartName="/ppt/notesSlides/notesSlide373.xml" ContentType="application/vnd.openxmlformats-officedocument.presentationml.notesSlide+xml"/>
  <Override PartName="/ppt/notesSlides/notesSlide374.xml" ContentType="application/vnd.openxmlformats-officedocument.presentationml.notesSlide+xml"/>
  <Override PartName="/ppt/notesSlides/notesSlide375.xml" ContentType="application/vnd.openxmlformats-officedocument.presentationml.notesSlide+xml"/>
  <Override PartName="/ppt/notesSlides/notesSlide376.xml" ContentType="application/vnd.openxmlformats-officedocument.presentationml.notesSlide+xml"/>
  <Override PartName="/ppt/notesSlides/notesSlide377.xml" ContentType="application/vnd.openxmlformats-officedocument.presentationml.notesSlide+xml"/>
  <Override PartName="/ppt/notesSlides/notesSlide378.xml" ContentType="application/vnd.openxmlformats-officedocument.presentationml.notesSlide+xml"/>
  <Override PartName="/ppt/notesSlides/notesSlide37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80.xml" ContentType="application/vnd.openxmlformats-officedocument.presentationml.notesSlide+xml"/>
  <Override PartName="/ppt/notesSlides/notesSlide381.xml" ContentType="application/vnd.openxmlformats-officedocument.presentationml.notesSlide+xml"/>
  <Override PartName="/ppt/notesSlides/notesSlide382.xml" ContentType="application/vnd.openxmlformats-officedocument.presentationml.notesSlide+xml"/>
  <Override PartName="/ppt/notesSlides/notesSlide383.xml" ContentType="application/vnd.openxmlformats-officedocument.presentationml.notesSlide+xml"/>
  <Override PartName="/ppt/notesSlides/notesSlide384.xml" ContentType="application/vnd.openxmlformats-officedocument.presentationml.notesSlide+xml"/>
  <Override PartName="/ppt/notesSlides/notesSlide385.xml" ContentType="application/vnd.openxmlformats-officedocument.presentationml.notesSlide+xml"/>
  <Override PartName="/ppt/notesSlides/notesSlide386.xml" ContentType="application/vnd.openxmlformats-officedocument.presentationml.notesSlide+xml"/>
  <Override PartName="/ppt/notesSlides/notesSlide387.xml" ContentType="application/vnd.openxmlformats-officedocument.presentationml.notesSlide+xml"/>
  <Override PartName="/ppt/notesSlides/notesSlide388.xml" ContentType="application/vnd.openxmlformats-officedocument.presentationml.notesSlide+xml"/>
  <Override PartName="/ppt/notesSlides/notesSlide38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90.xml" ContentType="application/vnd.openxmlformats-officedocument.presentationml.notesSlide+xml"/>
  <Override PartName="/ppt/notesSlides/notesSlide391.xml" ContentType="application/vnd.openxmlformats-officedocument.presentationml.notesSlide+xml"/>
  <Override PartName="/ppt/notesSlides/notesSlide392.xml" ContentType="application/vnd.openxmlformats-officedocument.presentationml.notesSlide+xml"/>
  <Override PartName="/ppt/notesSlides/notesSlide393.xml" ContentType="application/vnd.openxmlformats-officedocument.presentationml.notesSlide+xml"/>
  <Override PartName="/ppt/notesSlides/notesSlide394.xml" ContentType="application/vnd.openxmlformats-officedocument.presentationml.notesSlide+xml"/>
  <Override PartName="/ppt/notesSlides/notesSlide395.xml" ContentType="application/vnd.openxmlformats-officedocument.presentationml.notesSlide+xml"/>
  <Override PartName="/ppt/notesSlides/notesSlide396.xml" ContentType="application/vnd.openxmlformats-officedocument.presentationml.notesSlide+xml"/>
  <Override PartName="/ppt/notesSlides/notesSlide397.xml" ContentType="application/vnd.openxmlformats-officedocument.presentationml.notesSlide+xml"/>
  <Override PartName="/ppt/notesSlides/notesSlide398.xml" ContentType="application/vnd.openxmlformats-officedocument.presentationml.notesSlide+xml"/>
  <Override PartName="/ppt/notesSlides/notesSlide39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00.xml" ContentType="application/vnd.openxmlformats-officedocument.presentationml.notesSlide+xml"/>
  <Override PartName="/ppt/notesSlides/notesSlide401.xml" ContentType="application/vnd.openxmlformats-officedocument.presentationml.notesSlide+xml"/>
  <Override PartName="/ppt/notesSlides/notesSlide402.xml" ContentType="application/vnd.openxmlformats-officedocument.presentationml.notesSlide+xml"/>
  <Override PartName="/ppt/notesSlides/notesSlide403.xml" ContentType="application/vnd.openxmlformats-officedocument.presentationml.notesSlide+xml"/>
  <Override PartName="/ppt/notesSlides/notesSlide404.xml" ContentType="application/vnd.openxmlformats-officedocument.presentationml.notesSlide+xml"/>
  <Override PartName="/ppt/notesSlides/notesSlide405.xml" ContentType="application/vnd.openxmlformats-officedocument.presentationml.notesSlide+xml"/>
  <Override PartName="/ppt/notesSlides/notesSlide406.xml" ContentType="application/vnd.openxmlformats-officedocument.presentationml.notesSlide+xml"/>
  <Override PartName="/ppt/notesSlides/notesSlide407.xml" ContentType="application/vnd.openxmlformats-officedocument.presentationml.notesSlide+xml"/>
  <Override PartName="/ppt/notesSlides/notesSlide408.xml" ContentType="application/vnd.openxmlformats-officedocument.presentationml.notesSlide+xml"/>
  <Override PartName="/ppt/notesSlides/notesSlide409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10.xml" ContentType="application/vnd.openxmlformats-officedocument.presentationml.notesSlide+xml"/>
  <Override PartName="/ppt/notesSlides/notesSlide411.xml" ContentType="application/vnd.openxmlformats-officedocument.presentationml.notesSlide+xml"/>
  <Override PartName="/ppt/notesSlides/notesSlide412.xml" ContentType="application/vnd.openxmlformats-officedocument.presentationml.notesSlide+xml"/>
  <Override PartName="/ppt/notesSlides/notesSlide41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fixture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srv-pay</c:v>
                </c:pt>
                <c:pt idx="1">
                  <c:v>srv-web</c:v>
                </c:pt>
                <c:pt idx="2">
                  <c:v>srv-lab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80</c:v>
                </c:pt>
                <c:pt idx="1">
                  <c:v>36</c:v>
                </c:pt>
                <c:pt idx="2">
                  <c:v>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fixture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Sheet1!$A$2:$A$3</c:f>
              <c:strCache>
                <c:ptCount val="2"/>
                <c:pt idx="0">
                  <c:v>SUPPORTED ID</c:v>
                </c:pt>
                <c:pt idx="1">
                  <c:v>UNSUPPORTED ID</c:v>
                </c:pt>
              </c:strCache>
            </c:strRef>
          </c:cat>
          <c:val>
            <c:numRef>
              <c:f>Sheet1!$B$2:$B$3</c:f>
              <c:numCache>
                <c:formatCode>0</c:formatCode>
                <c:ptCount val="2"/>
                <c:pt idx="0">
                  <c:v>2</c:v>
                </c:pt>
                <c:pt idx="1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fixture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Sheet1!$A$2:$A$3</c:f>
              <c:strCache>
                <c:ptCount val="2"/>
                <c:pt idx="0">
                  <c:v>SCOPED</c:v>
                </c:pt>
                <c:pt idx="1">
                  <c:v>REVIEW BROAD</c:v>
                </c:pt>
              </c:strCache>
            </c:strRef>
          </c:cat>
          <c:val>
            <c:numRef>
              <c:f>Sheet1!$B$2:$B$3</c:f>
              <c:numCache>
                <c:formatCode>0</c:formatCode>
                <c:ptCount val="2"/>
                <c:pt idx="0">
                  <c:v>2</c:v>
                </c:pt>
                <c:pt idx="1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fixture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WOULD BLOCK</c:v>
                </c:pt>
                <c:pt idx="1">
                  <c:v>BLOCK</c:v>
                </c:pt>
                <c:pt idx="2">
                  <c:v>WRONG AUDIENCE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fixture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Sheet1!$A$2:$A$3</c:f>
              <c:strCache>
                <c:ptCount val="2"/>
                <c:pt idx="0">
                  <c:v>ALLOW</c:v>
                </c:pt>
                <c:pt idx="1">
                  <c:v>DENY</c:v>
                </c:pt>
              </c:strCache>
            </c:strRef>
          </c:cat>
          <c:val>
            <c:numRef>
              <c:f>Sheet1!$B$2:$B$3</c:f>
              <c:numCache>
                <c:formatCode>0</c:formatCode>
                <c:ptCount val="2"/>
                <c:pt idx="0">
                  <c:v>2</c:v>
                </c:pt>
                <c:pt idx="1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fixture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PRIVATE CONFIG</c:v>
                </c:pt>
                <c:pt idx="1">
                  <c:v>DNS MISMATCH</c:v>
                </c:pt>
                <c:pt idx="2">
                  <c:v>PUBLIC PATH REMAINS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fixture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BASELINE OK</c:v>
                </c:pt>
                <c:pt idx="1">
                  <c:v>PUBLIC ADMIN,LONG WINDOW</c:v>
                </c:pt>
                <c:pt idx="2">
                  <c:v>ENCRYPTION REVIEW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fixture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BASELINE OK</c:v>
                </c:pt>
                <c:pt idx="1">
                  <c:v>ACCESS REVIEW</c:v>
                </c:pt>
                <c:pt idx="2">
                  <c:v>SECRET EXPOSURE,RPO BREACH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fixture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AUDIT FINDING</c:v>
                </c:pt>
                <c:pt idx="1">
                  <c:v>WOULD DENY REQUEST</c:v>
                </c:pt>
                <c:pt idx="2">
                  <c:v>EXPIRED EXCEPTION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fixture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Sheet1!$A$2:$A$3</c:f>
              <c:strCache>
                <c:ptCount val="2"/>
                <c:pt idx="0">
                  <c:v>user_004</c:v>
                </c:pt>
                <c:pt idx="1">
                  <c:v>user_007</c:v>
                </c:pt>
              </c:strCache>
            </c:strRef>
          </c:cat>
          <c:val>
            <c:numRef>
              <c:f>Sheet1!$B$2:$B$3</c:f>
              <c:numCache>
                <c:formatCode>0</c:formatCode>
                <c:ptCount val="2"/>
                <c:pt idx="0">
                  <c:v>5</c:v>
                </c:pt>
                <c:pt idx="1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fixture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ALLOW</c:v>
                </c:pt>
                <c:pt idx="1">
                  <c:v>MISSING ACTION</c:v>
                </c:pt>
                <c:pt idx="2">
                  <c:v>SELF APPROVAL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fixture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signin</c:v>
                </c:pt>
                <c:pt idx="1">
                  <c:v>role-grant</c:v>
                </c:pt>
                <c:pt idx="2">
                  <c:v>read-data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fixture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RETRIEVE</c:v>
                </c:pt>
                <c:pt idx="1">
                  <c:v>DENY TENANT</c:v>
                </c:pt>
                <c:pt idx="2">
                  <c:v>QUARANTINE UNTRUSTED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fixture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ALLOW</c:v>
                </c:pt>
                <c:pt idx="1">
                  <c:v>DENY TOOL</c:v>
                </c:pt>
                <c:pt idx="2">
                  <c:v>DENY BINDING</c:v>
                </c:pt>
                <c:pt idx="3">
                  <c:v>DENY EXPIRED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fixture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TP</c:v>
                </c:pt>
                <c:pt idx="1">
                  <c:v>FP</c:v>
                </c:pt>
                <c:pt idx="2">
                  <c:v>FN</c:v>
                </c:pt>
                <c:pt idx="3">
                  <c:v>TN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fixture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INC-001</c:v>
                </c:pt>
                <c:pt idx="1">
                  <c:v>INC-002</c:v>
                </c:pt>
                <c:pt idx="2">
                  <c:v>INC-003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95.0</c:v>
                </c:pt>
                <c:pt idx="1">
                  <c:v>98.0</c:v>
                </c:pt>
                <c:pt idx="2">
                  <c:v>0.0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_rels/notesSlide2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0.xml"/></Relationships>
</file>

<file path=ppt/notesSlides/_rels/notesSlide2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1.xml"/></Relationships>
</file>

<file path=ppt/notesSlides/_rels/notesSlide2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2.xml"/></Relationships>
</file>

<file path=ppt/notesSlides/_rels/notesSlide2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3.xml"/></Relationships>
</file>

<file path=ppt/notesSlides/_rels/notesSlide2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4.xml"/></Relationships>
</file>

<file path=ppt/notesSlides/_rels/notesSlide2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5.xml"/></Relationships>
</file>

<file path=ppt/notesSlides/_rels/notesSlide2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6.xml"/></Relationships>
</file>

<file path=ppt/notesSlides/_rels/notesSlide2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7.xml"/></Relationships>
</file>

<file path=ppt/notesSlides/_rels/notesSlide2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8.xml"/></Relationships>
</file>

<file path=ppt/notesSlides/_rels/notesSlide2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9.xml"/></Relationships>
</file>

<file path=ppt/notesSlides/_rels/notesSlide2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0.xml"/></Relationships>
</file>

<file path=ppt/notesSlides/_rels/notesSlide2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1.xml"/></Relationships>
</file>

<file path=ppt/notesSlides/_rels/notesSlide2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2.xml"/></Relationships>
</file>

<file path=ppt/notesSlides/_rels/notesSlide2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3.xml"/></Relationships>
</file>

<file path=ppt/notesSlides/_rels/notesSlide2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4.xml"/></Relationships>
</file>

<file path=ppt/notesSlides/_rels/notesSlide2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5.xml"/></Relationships>
</file>

<file path=ppt/notesSlides/_rels/notesSlide2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6.xml"/></Relationships>
</file>

<file path=ppt/notesSlides/_rels/notesSlide2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7.xml"/></Relationships>
</file>

<file path=ppt/notesSlides/_rels/notesSlide2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8.xml"/></Relationships>
</file>

<file path=ppt/notesSlides/_rels/notesSlide2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9.xml"/></Relationships>
</file>

<file path=ppt/notesSlides/_rels/notesSlide2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0.xml"/></Relationships>
</file>

<file path=ppt/notesSlides/_rels/notesSlide2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1.xml"/></Relationships>
</file>

<file path=ppt/notesSlides/_rels/notesSlide2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2.xml"/></Relationships>
</file>

<file path=ppt/notesSlides/_rels/notesSlide2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3.xml"/></Relationships>
</file>

<file path=ppt/notesSlides/_rels/notesSlide2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4.xml"/></Relationships>
</file>

<file path=ppt/notesSlides/_rels/notesSlide2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5.xml"/></Relationships>
</file>

<file path=ppt/notesSlides/_rels/notesSlide2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6.xml"/></Relationships>
</file>

<file path=ppt/notesSlides/_rels/notesSlide2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7.xml"/></Relationships>
</file>

<file path=ppt/notesSlides/_rels/notesSlide2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8.xml"/></Relationships>
</file>

<file path=ppt/notesSlides/_rels/notesSlide2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9.xml"/></Relationships>
</file>

<file path=ppt/notesSlides/_rels/notesSlide2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0.xml"/></Relationships>
</file>

<file path=ppt/notesSlides/_rels/notesSlide2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1.xml"/></Relationships>
</file>

<file path=ppt/notesSlides/_rels/notesSlide2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2.xml"/></Relationships>
</file>

<file path=ppt/notesSlides/_rels/notesSlide2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3.xml"/></Relationships>
</file>

<file path=ppt/notesSlides/_rels/notesSlide2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4.xml"/></Relationships>
</file>

<file path=ppt/notesSlides/_rels/notesSlide2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5.xml"/></Relationships>
</file>

<file path=ppt/notesSlides/_rels/notesSlide2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6.xml"/></Relationships>
</file>

<file path=ppt/notesSlides/_rels/notesSlide2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7.xml"/></Relationships>
</file>

<file path=ppt/notesSlides/_rels/notesSlide2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8.xml"/></Relationships>
</file>

<file path=ppt/notesSlides/_rels/notesSlide2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9.xml"/></Relationships>
</file>

<file path=ppt/notesSlides/_rels/notesSlide2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0.xml"/></Relationships>
</file>

<file path=ppt/notesSlides/_rels/notesSlide2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1.xml"/></Relationships>
</file>

<file path=ppt/notesSlides/_rels/notesSlide2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2.xml"/></Relationships>
</file>

<file path=ppt/notesSlides/_rels/notesSlide2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3.xml"/></Relationships>
</file>

<file path=ppt/notesSlides/_rels/notesSlide2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4.xml"/></Relationships>
</file>

<file path=ppt/notesSlides/_rels/notesSlide2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5.xml"/></Relationships>
</file>

<file path=ppt/notesSlides/_rels/notesSlide2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6.xml"/></Relationships>
</file>

<file path=ppt/notesSlides/_rels/notesSlide2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7.xml"/></Relationships>
</file>

<file path=ppt/notesSlides/_rels/notesSlide2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8.xml"/></Relationships>
</file>

<file path=ppt/notesSlides/_rels/notesSlide2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9.xml"/></Relationships>
</file>

<file path=ppt/notesSlides/_rels/notesSlide3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0.xml"/></Relationships>
</file>

<file path=ppt/notesSlides/_rels/notesSlide3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1.xml"/></Relationships>
</file>

<file path=ppt/notesSlides/_rels/notesSlide3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2.xml"/></Relationships>
</file>

<file path=ppt/notesSlides/_rels/notesSlide3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3.xml"/></Relationships>
</file>

<file path=ppt/notesSlides/_rels/notesSlide3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4.xml"/></Relationships>
</file>

<file path=ppt/notesSlides/_rels/notesSlide3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5.xml"/></Relationships>
</file>

<file path=ppt/notesSlides/_rels/notesSlide3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6.xml"/></Relationships>
</file>

<file path=ppt/notesSlides/_rels/notesSlide3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7.xml"/></Relationships>
</file>

<file path=ppt/notesSlides/_rels/notesSlide3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8.xml"/></Relationships>
</file>

<file path=ppt/notesSlides/_rels/notesSlide3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9.xml"/></Relationships>
</file>

<file path=ppt/notesSlides/_rels/notesSlide3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0.xml"/></Relationships>
</file>

<file path=ppt/notesSlides/_rels/notesSlide3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1.xml"/></Relationships>
</file>

<file path=ppt/notesSlides/_rels/notesSlide3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2.xml"/></Relationships>
</file>

<file path=ppt/notesSlides/_rels/notesSlide3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3.xml"/></Relationships>
</file>

<file path=ppt/notesSlides/_rels/notesSlide3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4.xml"/></Relationships>
</file>

<file path=ppt/notesSlides/_rels/notesSlide3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5.xml"/></Relationships>
</file>

<file path=ppt/notesSlides/_rels/notesSlide3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6.xml"/></Relationships>
</file>

<file path=ppt/notesSlides/_rels/notesSlide3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7.xml"/></Relationships>
</file>

<file path=ppt/notesSlides/_rels/notesSlide3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8.xml"/></Relationships>
</file>

<file path=ppt/notesSlides/_rels/notesSlide3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9.xml"/></Relationships>
</file>

<file path=ppt/notesSlides/_rels/notesSlide3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0.xml"/></Relationships>
</file>

<file path=ppt/notesSlides/_rels/notesSlide3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1.xml"/></Relationships>
</file>

<file path=ppt/notesSlides/_rels/notesSlide3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2.xml"/></Relationships>
</file>

<file path=ppt/notesSlides/_rels/notesSlide3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3.xml"/></Relationships>
</file>

<file path=ppt/notesSlides/_rels/notesSlide3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4.xml"/></Relationships>
</file>

<file path=ppt/notesSlides/_rels/notesSlide3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5.xml"/></Relationships>
</file>

<file path=ppt/notesSlides/_rels/notesSlide3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6.xml"/></Relationships>
</file>

<file path=ppt/notesSlides/_rels/notesSlide3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7.xml"/></Relationships>
</file>

<file path=ppt/notesSlides/_rels/notesSlide3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8.xml"/></Relationships>
</file>

<file path=ppt/notesSlides/_rels/notesSlide3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9.xml"/></Relationships>
</file>

<file path=ppt/notesSlides/_rels/notesSlide3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0.xml"/></Relationships>
</file>

<file path=ppt/notesSlides/_rels/notesSlide3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1.xml"/></Relationships>
</file>

<file path=ppt/notesSlides/_rels/notesSlide3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2.xml"/></Relationships>
</file>

<file path=ppt/notesSlides/_rels/notesSlide3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3.xml"/></Relationships>
</file>

<file path=ppt/notesSlides/_rels/notesSlide3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4.xml"/></Relationships>
</file>

<file path=ppt/notesSlides/_rels/notesSlide3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5.xml"/></Relationships>
</file>

<file path=ppt/notesSlides/_rels/notesSlide3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6.xml"/></Relationships>
</file>

<file path=ppt/notesSlides/_rels/notesSlide3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7.xml"/></Relationships>
</file>

<file path=ppt/notesSlides/_rels/notesSlide3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8.xml"/></Relationships>
</file>

<file path=ppt/notesSlides/_rels/notesSlide3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9.xml"/></Relationships>
</file>

<file path=ppt/notesSlides/_rels/notesSlide3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0.xml"/></Relationships>
</file>

<file path=ppt/notesSlides/_rels/notesSlide3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1.xml"/></Relationships>
</file>

<file path=ppt/notesSlides/_rels/notesSlide3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2.xml"/></Relationships>
</file>

<file path=ppt/notesSlides/_rels/notesSlide3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3.xml"/></Relationships>
</file>

<file path=ppt/notesSlides/_rels/notesSlide3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4.xml"/></Relationships>
</file>

<file path=ppt/notesSlides/_rels/notesSlide3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5.xml"/></Relationships>
</file>

<file path=ppt/notesSlides/_rels/notesSlide3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6.xml"/></Relationships>
</file>

<file path=ppt/notesSlides/_rels/notesSlide3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7.xml"/></Relationships>
</file>

<file path=ppt/notesSlides/_rels/notesSlide3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8.xml"/></Relationships>
</file>

<file path=ppt/notesSlides/_rels/notesSlide3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9.xml"/></Relationships>
</file>

<file path=ppt/notesSlides/_rels/notesSlide3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0.xml"/></Relationships>
</file>

<file path=ppt/notesSlides/_rels/notesSlide3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1.xml"/></Relationships>
</file>

<file path=ppt/notesSlides/_rels/notesSlide3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2.xml"/></Relationships>
</file>

<file path=ppt/notesSlides/_rels/notesSlide3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3.xml"/></Relationships>
</file>

<file path=ppt/notesSlides/_rels/notesSlide3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4.xml"/></Relationships>
</file>

<file path=ppt/notesSlides/_rels/notesSlide3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5.xml"/></Relationships>
</file>

<file path=ppt/notesSlides/_rels/notesSlide3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6.xml"/></Relationships>
</file>

<file path=ppt/notesSlides/_rels/notesSlide3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7.xml"/></Relationships>
</file>

<file path=ppt/notesSlides/_rels/notesSlide3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8.xml"/></Relationships>
</file>

<file path=ppt/notesSlides/_rels/notesSlide3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9.xml"/></Relationships>
</file>

<file path=ppt/notesSlides/_rels/notesSlide3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0.xml"/></Relationships>
</file>

<file path=ppt/notesSlides/_rels/notesSlide3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1.xml"/></Relationships>
</file>

<file path=ppt/notesSlides/_rels/notesSlide3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2.xml"/></Relationships>
</file>

<file path=ppt/notesSlides/_rels/notesSlide3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3.xml"/></Relationships>
</file>

<file path=ppt/notesSlides/_rels/notesSlide3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4.xml"/></Relationships>
</file>

<file path=ppt/notesSlides/_rels/notesSlide3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5.xml"/></Relationships>
</file>

<file path=ppt/notesSlides/_rels/notesSlide3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6.xml"/></Relationships>
</file>

<file path=ppt/notesSlides/_rels/notesSlide3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7.xml"/></Relationships>
</file>

<file path=ppt/notesSlides/_rels/notesSlide3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8.xml"/></Relationships>
</file>

<file path=ppt/notesSlides/_rels/notesSlide3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9.xml"/></Relationships>
</file>

<file path=ppt/notesSlides/_rels/notesSlide3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0.xml"/></Relationships>
</file>

<file path=ppt/notesSlides/_rels/notesSlide3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1.xml"/></Relationships>
</file>

<file path=ppt/notesSlides/_rels/notesSlide3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2.xml"/></Relationships>
</file>

<file path=ppt/notesSlides/_rels/notesSlide3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3.xml"/></Relationships>
</file>

<file path=ppt/notesSlides/_rels/notesSlide3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4.xml"/></Relationships>
</file>

<file path=ppt/notesSlides/_rels/notesSlide3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5.xml"/></Relationships>
</file>

<file path=ppt/notesSlides/_rels/notesSlide3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6.xml"/></Relationships>
</file>

<file path=ppt/notesSlides/_rels/notesSlide3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7.xml"/></Relationships>
</file>

<file path=ppt/notesSlides/_rels/notesSlide3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8.xml"/></Relationships>
</file>

<file path=ppt/notesSlides/_rels/notesSlide3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9.xml"/></Relationships>
</file>

<file path=ppt/notesSlides/_rels/notesSlide3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0.xml"/></Relationships>
</file>

<file path=ppt/notesSlides/_rels/notesSlide3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1.xml"/></Relationships>
</file>

<file path=ppt/notesSlides/_rels/notesSlide3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2.xml"/></Relationships>
</file>

<file path=ppt/notesSlides/_rels/notesSlide3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3.xml"/></Relationships>
</file>

<file path=ppt/notesSlides/_rels/notesSlide3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4.xml"/></Relationships>
</file>

<file path=ppt/notesSlides/_rels/notesSlide3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5.xml"/></Relationships>
</file>

<file path=ppt/notesSlides/_rels/notesSlide3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6.xml"/></Relationships>
</file>

<file path=ppt/notesSlides/_rels/notesSlide3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7.xml"/></Relationships>
</file>

<file path=ppt/notesSlides/_rels/notesSlide3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8.xml"/></Relationships>
</file>

<file path=ppt/notesSlides/_rels/notesSlide3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9.xml"/></Relationships>
</file>

<file path=ppt/notesSlides/_rels/notesSlide3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0.xml"/></Relationships>
</file>

<file path=ppt/notesSlides/_rels/notesSlide3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1.xml"/></Relationships>
</file>

<file path=ppt/notesSlides/_rels/notesSlide3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2.xml"/></Relationships>
</file>

<file path=ppt/notesSlides/_rels/notesSlide3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3.xml"/></Relationships>
</file>

<file path=ppt/notesSlides/_rels/notesSlide3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4.xml"/></Relationships>
</file>

<file path=ppt/notesSlides/_rels/notesSlide3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5.xml"/></Relationships>
</file>

<file path=ppt/notesSlides/_rels/notesSlide3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6.xml"/></Relationships>
</file>

<file path=ppt/notesSlides/_rels/notesSlide3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7.xml"/></Relationships>
</file>

<file path=ppt/notesSlides/_rels/notesSlide3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8.xml"/></Relationships>
</file>

<file path=ppt/notesSlides/_rels/notesSlide3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9.xml"/></Relationships>
</file>

<file path=ppt/notesSlides/_rels/notesSlide4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0.xml"/></Relationships>
</file>

<file path=ppt/notesSlides/_rels/notesSlide4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1.xml"/></Relationships>
</file>

<file path=ppt/notesSlides/_rels/notesSlide4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2.xml"/></Relationships>
</file>

<file path=ppt/notesSlides/_rels/notesSlide4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3.xml"/></Relationships>
</file>

<file path=ppt/notesSlides/_rels/notesSlide4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4.xml"/></Relationships>
</file>

<file path=ppt/notesSlides/_rels/notesSlide4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5.xml"/></Relationships>
</file>

<file path=ppt/notesSlides/_rels/notesSlide4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6.xml"/></Relationships>
</file>

<file path=ppt/notesSlides/_rels/notesSlide4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7.xml"/></Relationships>
</file>

<file path=ppt/notesSlides/_rels/notesSlide4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8.xml"/></Relationships>
</file>

<file path=ppt/notesSlides/_rels/notesSlide4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9.xml"/></Relationships>
</file>

<file path=ppt/notesSlides/_rels/notesSlide4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0.xml"/></Relationships>
</file>

<file path=ppt/notesSlides/_rels/notesSlide4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1.xml"/></Relationships>
</file>

<file path=ppt/notesSlides/_rels/notesSlide4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2.xml"/></Relationships>
</file>

<file path=ppt/notesSlides/_rels/notesSlide4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Lab 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Lab 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Lab 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Lab 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Lab 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Lab 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Lab 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Lab 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Lab 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Lab 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Lab 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Lab 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Lab 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DIVIDER | Lab 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| Lab 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 | Native editable PowerPoint chart; values from lab fixture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| Lab 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2 | Native editable PowerPoint chart; values from lab fixture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BREAK | Lab 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| Lab 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3 | Native editable PowerPoint chart; values from lab fixture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| Lab 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4 | Native editable PowerPoint chart; values from lab fixture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DIVIDER | Lab 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| Lab 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5 | Native editable PowerPoint chart; values from lab fixture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| Lab 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6 | Native editable PowerPoint chart; values from lab fixture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BREAK | Lab 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7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7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7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7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7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7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7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7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7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7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7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7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7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7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7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7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7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7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7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| Lab 7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7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7 | Native editable PowerPoint chart; values from lab fixture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7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7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8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8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8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8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8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8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8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8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8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8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8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8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8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8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8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8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8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8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8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| Lab 8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8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8 | Native editable PowerPoint chart; values from lab fixture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8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8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8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DIVIDER | Lab 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9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9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9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9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9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9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9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9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9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9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9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9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9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9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9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9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9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9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9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| Lab 9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9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9 | Native editable PowerPoint chart; values from lab fixture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9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9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10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10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10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10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10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10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10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10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10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| Lab 10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10 | Native editable PowerPoint chart; values from lab fixture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BREAK | Lab 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11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11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11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11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11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11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11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11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11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| Lab 11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11 | Native editable PowerPoint chart; values from lab fixture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11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12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12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12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12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12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12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12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12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12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| Lab 12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12 | Native editable PowerPoint chart; values from lab fixture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12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DIVIDER | Lab 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13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13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13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13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13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13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13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13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13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| Lab 13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13 | Native editable PowerPoint chart; values from lab fixture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13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14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14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14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14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14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14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14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14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14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| Lab 14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14 | Native editable PowerPoint chart; values from lab fixture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14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BREAK | Lab 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15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15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15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15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15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15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15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15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15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| Lab 15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15 | Native editable PowerPoint chart; values from lab fixture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15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16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16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16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16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16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16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 | Lab 16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| Lab 16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| Lab 16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| Lab 16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| Lab 16 | Native editable PowerPoint chart; values from lab fixture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| Lab 16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Lab 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Lab 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Lab 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| Lab 0 | Original worked example; supplied references</a:t>
            </a:r>
          </a:p>
          <a:p>
            <a:r>
              <a:t>Source register: Learner Guide. All classroom records are synthetic. Full procedures are in the Learner Guide and lab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3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5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6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8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9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0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3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4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5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6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3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4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5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6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8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9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0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1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2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3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4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5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6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8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9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0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1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3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notesSlide" Target="../notesSlides/notesSlide234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8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0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1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4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5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6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8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9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0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1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2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3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4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5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6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notesSlide" Target="../notesSlides/notesSlide258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9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0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1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2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3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4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5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6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8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9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0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1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2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3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4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5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6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8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9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0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1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2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notesSlide" Target="../notesSlides/notesSlide283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4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5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6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8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9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0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1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2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3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4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5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6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8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9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0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1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2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3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4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5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6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Relationship Id="rId3" Type="http://schemas.openxmlformats.org/officeDocument/2006/relationships/notesSlide" Target="../notesSlides/notesSlide30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8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9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0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1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2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3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4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5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6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8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9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0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1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2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3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4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5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6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8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9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0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1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2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notesSlide" Target="../notesSlides/notesSlide333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4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5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6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8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9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0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1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2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3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4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5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6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8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9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0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1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2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3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4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5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6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Relationship Id="rId3" Type="http://schemas.openxmlformats.org/officeDocument/2006/relationships/notesSlide" Target="../notesSlides/notesSlide35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8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9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0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1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2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3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4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5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6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8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9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0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1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2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3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4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5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6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8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9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0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1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Relationship Id="rId3" Type="http://schemas.openxmlformats.org/officeDocument/2006/relationships/notesSlide" Target="../notesSlides/notesSlide382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3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4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5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6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8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9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0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1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2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3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4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5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6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8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9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0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1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2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3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4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5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Relationship Id="rId3" Type="http://schemas.openxmlformats.org/officeDocument/2006/relationships/notesSlide" Target="../notesSlides/notesSlide406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7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8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9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0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1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2.xml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WSQ COURSE SLIDES | V6.0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AI for IT Security Professionals</a:t>
            </a:r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1097280" cy="1097280"/>
          </a:xfrm>
          <a:prstGeom prst="rect">
            <a:avLst/>
          </a:prstGeom>
        </p:spPr>
      </p:pic>
      <p:pic>
        <p:nvPicPr>
          <p:cNvPr id="6" name="Picture 5" descr="security-analy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828800"/>
            <a:ext cx="6812280" cy="454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337560"/>
            <a:ext cx="3977639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Security Administration
ICT-OUS-3012-1.1
TGS-2023039344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03520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UEN 201200696W | 6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Copyright and use of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COURSE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Original explanations and synthetic cases are provided for enrolled learners.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REFERENCE LIBRARY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supplied ebooks remain reference-only. Public labs contain original datasets and scripts.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Tertiary Infotech Academy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PROVIDER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Tertiary Infotech Academy Pte Ltd
UEN 201200696W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COURSE DELIVERY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Four days: 30 hours learning and practice plus 2 hours assessment.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TRAINER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Trainer completes before delivery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EXPERIENCE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B77900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ORGANISATION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Tertiary Infotech Academy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FOCUS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AI, automation and cloud learning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Applied technical training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B77900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Via the course LMS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Attendance and course feedback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 the provider-issued attendance link and registered learner identity at the required checkpoints.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TRAQOM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Complete the SSG course feedback survey when prompted by the provider. Follow the current trainer-issued links.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Working agreements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CLASSROOM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Return from breaks on time. Discuss evidence respectfully. Keep personal data out of shared prompts.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LAB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 synthetic fixtures and the assigned sandbox. Label simulated, verified and blocked outcomes accurately.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Learner introductions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YOUR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Share your role and one recurring security-administration problem.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YOUR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Name one control or log artifact you want to learn to inspect during the course.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Learning outcomes and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Outcome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Observable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59152"/>
            <a:ext cx="546811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23160"/>
            <a:ext cx="52303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359152"/>
            <a:ext cx="546811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2423160"/>
            <a:ext cx="52303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Administer security programmes and analyze the impact of system updates.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82112"/>
            <a:ext cx="546811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246120"/>
            <a:ext cx="52303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3182112"/>
            <a:ext cx="546811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3246120"/>
            <a:ext cx="52303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Perform system administration and configure network device security features.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005072"/>
            <a:ext cx="546811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069080"/>
            <a:ext cx="52303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4005072"/>
            <a:ext cx="546811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4069080"/>
            <a:ext cx="52303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Perform troubleshooting of security software and assist users in defining access rights.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828032"/>
            <a:ext cx="546811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892040"/>
            <a:ext cx="52303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4828032"/>
            <a:ext cx="546811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2" y="4892040"/>
            <a:ext cx="52303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Coordinate access control rights and investigate unauthorized access incidents.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LMS sign-in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Assigned course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Courseware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Learner files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Access through lms-tms.tertiaryinfotech.com. This is a navigation schematic; the detailed procedure is in the Learner Guide.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WRITTEN | 60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Nine open-ended questions, K1–K9. Explain mechanisms and support decisions with evidence.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PRACTICAL | 60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Three tasks, A1–A6. Submit the requested identity, network/data and operations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Optional practice resources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Related Microsoft security practice: exams.tertiaryinfotech.com/practice-exams/microsoft. A dedicated exam for the renamed course was not found.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ASSESSMENT STANDARD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Practice resources do not replace the nine-question written paper or the three practical tasks.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30 HOURS TRAINING PLUS 2 HOURS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Four-day learning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36393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37943"/>
            <a:ext cx="34015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783080"/>
            <a:ext cx="36393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70832" y="1837943"/>
            <a:ext cx="34015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Teaching and practice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9560" y="1783080"/>
            <a:ext cx="36393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1837943"/>
            <a:ext cx="34015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Assessment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359152"/>
            <a:ext cx="363931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423160"/>
            <a:ext cx="34015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2359152"/>
            <a:ext cx="363931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2" y="2423160"/>
            <a:ext cx="34015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Risk, evidence and identity | Labs 1–4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2359152"/>
            <a:ext cx="363931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8431" y="2423160"/>
            <a:ext cx="34015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182112"/>
            <a:ext cx="363931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246120"/>
            <a:ext cx="34015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3182112"/>
            <a:ext cx="363931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0832" y="3246120"/>
            <a:ext cx="34015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Network, compute and data | Labs 5–8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9560" y="3182112"/>
            <a:ext cx="363931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28431" y="3246120"/>
            <a:ext cx="34015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005072"/>
            <a:ext cx="363931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069080"/>
            <a:ext cx="34015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4005072"/>
            <a:ext cx="363931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0832" y="4069080"/>
            <a:ext cx="34015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Posture, detection and investigation | Labs 9–12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9560" y="4005072"/>
            <a:ext cx="363931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28431" y="4069080"/>
            <a:ext cx="34015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828032"/>
            <a:ext cx="363931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892040"/>
            <a:ext cx="34015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4828032"/>
            <a:ext cx="363931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70832" y="4892040"/>
            <a:ext cx="34015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Agent controls and response | Labs 13–16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09560" y="4828032"/>
            <a:ext cx="363931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28431" y="4892040"/>
            <a:ext cx="34015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WA 60 min + PP 60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Risk and identity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Technical mechanisms, evidence and diagnostic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01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Asset ownership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Join security findings to an owned asset before prioritising remediation.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01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Asset ownership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asset_id
owner
internet_exposed
criticality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srv-pay has owner Priya and criticality 5.
Record inventory version, join key and unmatched row count.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01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Asset ownership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srv-pay has owner Priya and criticality 5.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srv-lab has no accountable owner.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Join security findings to an owned asset before prioritising remediation.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1 | LAB 01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Asset ownership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srv-pay has owner Priya and criticality 5.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Quarantine the unmapped finding from automated assignment; resolve the inventory gap.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srv-lab has no accountable owner.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01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Asset ownership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inventory version, join key and unmatched row count.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srv-pay has owner Priya and criticality 5.
Quarantine the unmapped finding from automated assignment; resolve the inventory gap.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01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Asset ownership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srv-lab has no accountable owner.
Resolve it using:
asset_id, owner, internet_exposed, criticality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01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Patch prioritisation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Rank exposed high-impact assets before isolated low-impact assets.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01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Patch prioritisation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score = severity * criticality * exposure_weight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8 * 5 * 2 = 80 for internet-facing srv-pay.
Retain component values and the final priority order; this is a classroom heuristic, not CVSS.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01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Patch prioritisation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8 * 5 * 2 = 80 for internet-facing srv-pay.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9 * 1 * 1 = 9 for isolated srv-lab.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Rank exposed high-impact assets before isolated low-impact assets.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1 | LAB 01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Patch prioritisation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8 * 5 * 2 = 80 for internet-facing srv-pay.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severity-only queue misses business impact; validate compensating controls before ordering changes.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9 * 1 * 1 = 9 for isolated srv-lab.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01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Patch prioritisation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Retain component values and the final priority order; this is a classroom heuristic, not CVSS.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8 * 5 * 2 = 80 for internet-facing srv-pay.
A severity-only queue misses business impact; validate compensating controls before ordering changes.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01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Patch prioritisation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9 * 1 * 1 = 9 for isolated srv-lab.
Resolve it using:
score = severity * criticality * exposure_weight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01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and rollback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canary release moves to wider rollout only after error and health checks.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01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and rollback gates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change_id
baseline_error_rate
canary_error_rate
rollback_owner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0.5% baseline and 0.6% canary meet a 1 percentage-point guard.
Capture pre/post health evidence and approval state for CHG-104.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01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and rollback gates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0.5% baseline and 0.6% canary meet a 1 percentage-point guard.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0.5% baseline and 3% canary breach the guard.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canary release moves to wider rollout only after error and health checks.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1 | LAB 01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and rollback gates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0.5% baseline and 0.6% canary meet a 1 percentage-point guard.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Pause rollout, restore the previous approved image and re-test; do not merely close the ticket.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0.5% baseline and 3% canary breach the guard.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01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and rollback gates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Capture pre/post health evidence and approval state for CHG-104.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0.5% baseline and 0.6% canary meet a 1 percentage-point guard.
Pause rollout, restore the previous approved image and re-test; do not merely close the ticket.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01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and rollback gates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0.5% baseline and 3% canary breach the guard.
Resolve it using:
change_id, baseline_error_rate, canary_error_rate, rollback_owner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01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| input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id: srv-pay
severity: 8
criticality: 5
exposure: 2
owner: Priya
baseline: 0.5
canary: 3.0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Synthetic fixture record.
Ranked risk register and canary decision.
The full dataset and instructions are in this lab’s own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01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| decision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745236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708660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 r in rows:
    score=r['severity']*r['criticality']*r['exposure']
out.append({'id':r['id'],'score':score,'decision':'ROLLBACK'
if r['canary']-r['baseline']&gt;1 else 'CONTINUE'})
out.sort(key=lambda r:r['score'],reverse=True)</a:t>
            </a:r>
          </a:p>
        </p:txBody>
      </p:sp>
      <p:sp>
        <p:nvSpPr>
          <p:cNvPr id="7" name="Rectangle 6"/>
          <p:cNvSpPr/>
          <p:nvPr/>
        </p:nvSpPr>
        <p:spPr>
          <a:xfrm>
            <a:off x="8302752" y="1783080"/>
            <a:ext cx="324612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938528"/>
            <a:ext cx="2843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READ THE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496312"/>
            <a:ext cx="2843784" cy="3355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Actual excerpt from analyse.py.
Python standard library only.
Offline rule model; AI review is separate.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01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| computed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Record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Observed 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srv-pay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ROLLBACK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218688"/>
            <a:ext cx="5468112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282696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srv-web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3218688"/>
            <a:ext cx="5468112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3282696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CONTINUE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078224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142232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srv-lab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4078224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4142232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CONTINUE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01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| evidence distribution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5230368"/>
            <a:ext cx="1063447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632704"/>
            <a:ext cx="101498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risk scores: srv-pay 80, srv-web 36, srv-lab 9. Business criticality and exposure alter severity-only ordering.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Native editable PowerPoint chart; values from lab fixture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01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| test a changed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CONTROLLED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Change srv-pay canary from 3.0 to 0.6. Its decision must change from ROLLBACK to CONTINUE while its risk score remains 80.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EVIDENCE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the input SHA-256, changed field, predicted decision and actual decision. Explain discrepancies using the script.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01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| operational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Ranked risk register and canary decision.
Record scope, UTC time and approval state.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WHAT COUNTS AS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simulated pass proves the local rule only. A live claim requires configuration and an observed test. Record exact blockers and unresolved outcomes.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02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classification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Classify a finding as observed, inferred or unsupported before accepting an AI summary.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02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classification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claim_id
evidence_ids
conclusion
confidence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Claim C1 cites event E17 with a matching field.
Record the missing evidence identifier and corrected wording.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02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classification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Claim C1 cites event E17 with a matching field.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Claim C2 names event E99 absent from the dataset.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Classify a finding as observed, inferred or unsupported before accepting an AI summary.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1 | LAB 02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classification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Claim C1 cites event E17 with a matching field.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Return unsupported claims for correction; confidence text does not establish provenance.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Claim C2 names event E99 absent from the dataset.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02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classification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the missing evidence identifier and corrected wording.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Claim C1 cites event E17 with a matching field.
Return unsupported claims for correction; confidence text does not establish provenance.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02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classification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Claim C2 names event E99 absent from the dataset.
Resolve it using:
claim_id, evidence_ids, conclusion, confidence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02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Telemetry redaction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Replace personal identifiers before logs leave the approved security boundary.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45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02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Telemetry redaction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user_id
src_ip
token
tenant_id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user_004 replaces a real address and token is removed.
Keep the redaction rule and a synthetic before/after example.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02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Telemetry redaction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user_004 replaces a real address and token is removed.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bearer token remains in the prompt body.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Replace personal identifiers before logs leave the approved security boundary.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1 | LAB 02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Telemetry redaction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user_004 replaces a real address and token is removed.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Block submission, remove the secret, and rotate an exposed live credential through the incident process.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bearer token remains in the prompt body.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02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Telemetry redaction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Keep the redaction rule and a synthetic before/after example.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user_004 replaces a real address and token is removed.
Block submission, remove the secret, and rotate an exposed live credential through the incident process.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02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Telemetry redaction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A bearer token remains in the prompt body.
Resolve it using:
user_id, src_ip, token, tenant_id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02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Control responsibility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Assign each cloud control to a named operator and review its implementation evidence.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51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02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Control responsibility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control_id
accountable
evidence_uri
review_due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CTRL-7 has an owner and a dated access review.
A control register must show evidence date and unresolved exceptions.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02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Control responsibility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CTRL-7 has an owner and a dated access review.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policy statement has no operational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Assign each cloud control to a named operator and review its implementation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1 | LAB 02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Control responsibility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CTRL-7 has an owner and a dated access review.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Separate policy intent from deployed state; request a configuration export and a negative test.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policy statement has no operational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54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02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Control responsibility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control register must show evidence date and unresolved exceptions.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CTRL-7 has an owner and a dated access review.
Separate policy intent from deployed state; request a configuration export and a negative test.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02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Control responsibility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A policy statement has no operational evidence.
Resolve it using:
control_id, accountable, evidence_uri, review_due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02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 | input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id: C1
evidence_id: E17
user: person01@example.test
token: SYNTHETIC-TOKEN
claim: E17 reports failure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Synthetic fixture record.
Redacted evidence table and corrected ai claims.
The full dataset and instructions are in this lab’s own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02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 | decision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745236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708660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valid={'E17','E18'}
for i,r in enumerate(rows):
    out.append({'id':r['id'],'user':'user_%03d'%i,'token':'[RE
MOVED]','decision':'SUPPORTED_ID' if r['evidence_id'] in valid
else 'UNSUPPORTED_ID'})</a:t>
            </a:r>
          </a:p>
        </p:txBody>
      </p:sp>
      <p:sp>
        <p:nvSpPr>
          <p:cNvPr id="7" name="Rectangle 6"/>
          <p:cNvSpPr/>
          <p:nvPr/>
        </p:nvSpPr>
        <p:spPr>
          <a:xfrm>
            <a:off x="8302752" y="1783080"/>
            <a:ext cx="324612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938528"/>
            <a:ext cx="2843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READ THE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496312"/>
            <a:ext cx="2843784" cy="3355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Actual excerpt from analyse.py.
Python standard library only.
Offline rule model; AI review is separate.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02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 | computed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Record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Observed 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SUPPORTED_ID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218688"/>
            <a:ext cx="5468112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282696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3218688"/>
            <a:ext cx="5468112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3282696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UNSUPPORTED_ID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078224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142232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4078224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4142232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SUPPORTED_ID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59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02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 | evidence distribution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5230368"/>
            <a:ext cx="1063447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632704"/>
            <a:ext cx="101498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Counts from this lab’s synthetic fixture only. Inspect the specific failed records before proposing a control change; this is not a prevalence estimate.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Native editable PowerPoint chart; values from lab fixture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02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 | test a changed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CONTROLLED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Change C2 evidence_id to E18. Identifier validation will pass, but the claim still does not prove compromise. Explain why matching an ID is necessary but insufficient.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EVIDENCE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the input SHA-256, changed field, predicted decision and actual decision. Explain discrepancies using the script.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02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 | operational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Redacted evidence table and corrected ai claims.
Record scope, UTC time and approval state.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WHAT COUNTS AS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simulated pass proves the local rule only. A live claim requires configuration and an observed test. Record exact blockers and unresolved outcomes.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7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B7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B77900"/>
                </a:solidFill>
                <a:latin typeface="Arial"/>
              </a:rPr>
              <a:t>15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03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RBAC scope inheritance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Permissions at parent scope apply to child resources; additional Reader access does not reduce Contributor.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64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03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RBAC scope inheritance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principalId
roleDefinitionId
scope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Reader at rg-sec provides read-only management access.
Preserve principal ID, full scope and inherited role 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03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RBAC scope inheritance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Reader at rg-sec provides read-only management access.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Contributor at subscription remains effective below rg-sec.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Permissions at parent scope apply to child resources; additional Reader access does not reduce Contributor.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1 | LAB 03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RBAC scope inheritance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Reader at rg-sec provides read-only management access.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Inspect all applicable assignments and deny assignments before changing local roles.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Contributor at subscription remains effective below rg-sec.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03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RBAC scope inheritance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Preserve principal ID, full scope and inherited role list.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Reader at rg-sec provides read-only management access.
Inspect all applicable assignments and deny assignments before changing local roles.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03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RBAC scope inheritance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Contributor at subscription remains effective below rg-sec.
Resolve it using:
principalId, roleDefinitionId,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03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Custom role 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Management actions and data actions authorise different operations; subtracting NotActions is not a global deny.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70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03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Custom role actions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Actions
NotActions
DataActions
AssignableScopes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custom inventory role grants Microsoft.Resources/subscriptions/resourceGroups/read.
Compare allowed action strings against the approved job duties.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71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03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Custom role actions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custom inventory role grants Microsoft.Resources/subscriptions/resourceGroups/read.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Granting Microsoft.Storage/storageAccounts/listKeys/action exposes account keys.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Management actions and data actions authorise different operations; subtracting NotActions is not a global deny.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1 | LAB 03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Custom role actions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custom inventory role grants Microsoft.Resources/subscriptions/resourceGroups/read.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Remove unnecessary key-list access and review other assignments that may still grant it.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Granting Microsoft.Storage/storageAccounts/listKeys/action exposes account keys.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03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Custom role actions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Compare allowed action strings against the approved job duties.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custom inventory role grants Microsoft.Resources/subscriptions/resourceGroups/read.
Remove unnecessary key-list access and review other assignments that may still grant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03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Custom role actions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Granting Microsoft.Storage/storageAccounts/listKeys/action exposes account keys.
Resolve it using:
Actions, NotActions, DataActions, AssignableScopes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03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Privileged activation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eligible privileged role becomes active for an approved bounded interval.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76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03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Privileged activation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principal
role
justification
start_utc
end_utc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approved 30-minute activation expires at 10:30Z.
Record eligible versus active state, approver and actual expiry.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03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Privileged activation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approved 30-minute activation expires at 10:30Z.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standing Owner assignment has no expiry.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An eligible privileged role becomes active for an approved bounded interval.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1 | LAB 03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Privileged activation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approved 30-minute activation expires at 10:30Z.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Revoke unnecessary standing access; verify emergency access separately from ordinary roles.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standing Owner assignment has no expiry.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03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Privileged activation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eligible versus active state, approver and actual expiry.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approved 30-minute activation expires at 10:30Z.
Revoke unnecessary standing access; verify emergency access separately from ordinary roles.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03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Privileged activation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A standing Owner assignment has no expiry.
Resolve it using:
principal, role, justification, start_utc, end_utc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03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| input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id: u-read
roles: ['Reader']
scope: rg-sec
active_minutes: 0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Synthetic fixture record.
Access matrix with a least-privilege change proposal.
The full dataset and instructions are in this lab’s own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03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| decision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745236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708660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 r in rows:
    broad='Owner' in r['roles'] or r['scope']=='subscription'
    out.append({'id':r['id'],'decision':'REVIEW_BROAD' if
broad else 'SCOPED','minutes':r['active_minutes']})</a:t>
            </a:r>
          </a:p>
        </p:txBody>
      </p:sp>
      <p:sp>
        <p:nvSpPr>
          <p:cNvPr id="7" name="Rectangle 6"/>
          <p:cNvSpPr/>
          <p:nvPr/>
        </p:nvSpPr>
        <p:spPr>
          <a:xfrm>
            <a:off x="8302752" y="1783080"/>
            <a:ext cx="324612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938528"/>
            <a:ext cx="2843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READ THE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496312"/>
            <a:ext cx="2843784" cy="3355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Actual excerpt from analyse.py.
Python standard library only.
Offline rule model; AI review is separate.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03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| computed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Record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Observed 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u-read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SCOPED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218688"/>
            <a:ext cx="5468112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282696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u-owner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3218688"/>
            <a:ext cx="5468112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3282696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REVIEW_BROAD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078224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142232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u-pim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4078224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4142232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SCOPED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84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03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| evidence distribution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5230368"/>
            <a:ext cx="1063447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632704"/>
            <a:ext cx="101498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Counts from this lab’s synthetic fixture only. Inspect the specific failed records before proposing a control change; this is not a prevalence estimate.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Native editable PowerPoint chart; values from lab fixture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03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| test a changed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CONTROLLED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Add Reader to u-owner. The result must remain REVIEW_BROAD because a narrower grant does not remove Owner.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EVIDENCE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the input SHA-256, changed field, predicted decision and actual decision. Explain discrepancies using the script.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03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| operational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Access matrix with a least-privilege change proposal.
Record scope, UTC time and approval state.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WHAT COUNTS AS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simulated pass proves the local rule only. A live claim requires configuration and an observed test. Record exact blockers and unresolved outcomes.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04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Conditional Access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Report-only evaluates a policy without enforcing its access decision.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88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04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Conditional Access evaluation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state=enabledForReportingButNotEnforced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MFA policy records a would-block result for the test user.
Preserve policy mode and sign-in evaluation result, not only its name.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89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04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Conditional Access evaluation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MFA policy records a would-block result for the test user.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report-only result is presented as an enforced block.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Report-only evaluates a policy without enforcing its access decision.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1 | LAB 04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Conditional Access evaluation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MFA policy records a would-block result for the test user.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Pilot enforcement with a scoped group after reviewing emergency-access exclusions.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report-only result is presented as an enforced block.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91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04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Conditional Access evaluation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Preserve policy mode and sign-in evaluation result, not only its name.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MFA policy records a would-block result for the test user.
Pilot enforcement with a scoped group after reviewing emergency-access exclusions.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04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Conditional Access evaluation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A report-only result is presented as an enforced block.
Resolve it using:
state=enabledForReportingButNotEnforced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93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04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Managed identity token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Azure workload requests a token and the resource checks its audience and assigned permissions.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94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04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Managed identity token flow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principal_id
token_audience
resource_scope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workload identity has the required role on its target resource.
Record identity object ID, target resource and redacted error code.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04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Managed identity token flow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workload identity has the required role on its target resource.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valid token targets the wrong resource audience.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An Azure workload requests a token and the resource checks its audience and assigned permissions.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1 | LAB 04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Managed identity token flow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workload identity has the required role on its target resource.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Diagnose token audience separately from resource permission; never paste access tokens into AI tools.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valid token targets the wrong resource audience.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04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Managed identity token flow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identity object ID, target resource and redacted error code.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workload identity has the required role on its target resource.
Diagnose token audience separately from resource permission; never paste access tokens into AI tools.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98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04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Managed identity token flow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A valid token targets the wrong resource audience.
Resolve it using:
principal_id, token_audience, resource_scope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04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Application consent boundaries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API permission consent and Azure resource RBAC are separate grants.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04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Application consent boundaries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app_id
service_principal_id
permission_type
consent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app has only the delegated scope needed for the signed-in user.
Capture permission type, consenting authority and intended data boundary.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04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Application consent boundaries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app has only the delegated scope needed for the signed-in user.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Tenant-wide application permission is mistaken for a user-only grant.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API permission consent and Azure resource RBAC are separate grants.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1 | LAB 04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Application consent boundaries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app has only the delegated scope needed for the signed-in user.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whether app-only access is required and remove unused consent through approval.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Tenant-wide application permission is mistaken for a user-only grant.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04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Application consent boundaries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Capture permission type, consenting authority and intended data boundary.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app has only the delegated scope needed for the signed-in user.
Review whether app-only access is required and remove unused consent through approval.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04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Application consent boundaries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Tenant-wide application permission is mistaken for a user-only grant.
Resolve it using:
app_id, service_principal_id, permission_type, consent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04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| input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id: signin-1
mode: report-only
requires_mfa: True
mfa: False
audience_ok: True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Synthetic fixture record.
Policy-mode comparison and workload identity diagnosis.
The full dataset and instructions are in this lab’s own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04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| decision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745236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708660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 r in rows:
    fail=r['requires_mfa'] and not r['mfa']
    decision='WRONG_AUDIENCE' if not r['audience_ok'] else
('WOULD_BLOCK' if fail and r['mode']=='report-only' else
('BLOCK' if fail else 'ALLOW'))
    out.append({'id':r['id'],'decision':decision})</a:t>
            </a:r>
          </a:p>
        </p:txBody>
      </p:sp>
      <p:sp>
        <p:nvSpPr>
          <p:cNvPr id="7" name="Rectangle 6"/>
          <p:cNvSpPr/>
          <p:nvPr/>
        </p:nvSpPr>
        <p:spPr>
          <a:xfrm>
            <a:off x="8302752" y="1783080"/>
            <a:ext cx="324612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938528"/>
            <a:ext cx="2843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READ THE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496312"/>
            <a:ext cx="2843784" cy="3355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Actual excerpt from analyse.py.
Python standard library only.
Offline rule model; AI review is separate.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04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| computed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Record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Observed 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signin-1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WOULD_BLOCK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218688"/>
            <a:ext cx="5468112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282696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signin-2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3218688"/>
            <a:ext cx="5468112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3282696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BLOCK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078224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142232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signin-3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4078224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4142232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WRONG_AUDIENCE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04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| evidence distribution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5230368"/>
            <a:ext cx="1063447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632704"/>
            <a:ext cx="101498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Counts from this lab’s synthetic fixture only. Inspect the specific failed records before proposing a control change; this is not a prevalence estimate.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Native editable PowerPoint chart; values from lab fixture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04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| test a changed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CONTROLLED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Set signin-1 mfa to true. The result changes to ALLOW in this simplified model; explain why this does not prove a real Conditional Access deployment.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EVIDENCE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the input SHA-256, changed field, predicted decision and actual decision. Explain discrepancies using the script.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| LAB 04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| operational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Policy-mode comparison and workload identity diagnosis.
Record scope, UTC time and approval state.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WHAT COUNTS AS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simulated pass proves the local rule only. A live claim requires configuration and an observed test. Record exact blockers and unresolved outcomes.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Day 1 | evidence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EXHIBITS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Labs 1–4: compare baseline, changed-input result and source checksum.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REVIEW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Which claim is supported by a record? Which control still needs operational verification? Cite the exact artifact and uncertainty.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Network and data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Technical mechanisms, evidence and diagnostic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  <p:pic>
        <p:nvPicPr>
          <p:cNvPr id="14" name="Picture 13" descr="network-bounda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365760"/>
            <a:ext cx="3474720" cy="231648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05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NSG rule precedence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Evaluate matching rules by ascending priority; the first match decides a new flow.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114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05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NSG rule precedence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priority
source
destination
port
access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Priority 100 allows web to app TCP 443.
Record the five-tuple, matched rule and direction.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05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NSG rule precedence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Priority 100 allows web to app TCP 443.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Priority 90 denies the same flow before priority 100.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Evaluate matching rules by ascending priority; the first match decides a new 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2 | LAB 05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NSG rule precedence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Priority 100 allows web to app TCP 443.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Inspect earlier matching rules and both subnet/NIC associations.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Priority 90 denies the same flow before priority 100.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05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NSG rule precedence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the five-tuple, matched rule and direction.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Priority 100 allows web to app TCP 443.
Inspect earlier matching rules and both subnet/NIC associations.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05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NSG rule precedence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Priority 90 denies the same flow before priority 100.
Resolve it using:
priority, source, destination, port,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05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ASG membership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application security group groups NICs so rules can express workload roles.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120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05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ASG membership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source_asg=web
destination_asg=app
port=443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app NIC belongs to the app group used by the rule.
Export NIC membership and the effective rule result.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05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ASG membership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app NIC belongs to the app group used by the rule.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recreated NIC was never added to the app group.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An application security group groups NICs so rules can express workload roles.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2 | LAB 05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ASG membership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app NIC belongs to the app group used by the rule.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Repair membership after checking the actual NIC identity; do not broaden source to Any.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recreated NIC was never added to the app group.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05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ASG membership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Export NIC membership and the effective rule result.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app NIC belongs to the app group used by the rule.
Repair membership after checking the actual NIC identity; do not broaden source to Any.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05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ASG membership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A recreated NIC was never added to the app group.
Resolve it using:
source_asg=web, destination_asg=app, port=443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05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Flow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permitted packet requires matching route, filter and listening service state.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126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05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Flow verification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src_ip
dst_ip
dst_port
direction
protocol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TCP 443 is allowed and the application listens on 443.
Keep filter result plus an application connection test.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05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Flow verification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TCP 443 is allowed and the application listens on 443.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NSG allows 443 but the service is stopped.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permitted packet requires matching route, filter and listening service state.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2 | LAB 05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Flow verification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TCP 443 is allowed and the application listens on 443.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Separate route, NSG, host firewall and process failures; IP flow verify alone is not an end-to-end test.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NSG allows 443 but the service is stopped.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05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Flow verification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Keep filter result plus an application connection test.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TCP 443 is allowed and the application listens on 443.
Separate route, NSG, host firewall and process failures; IP flow verify alone is not an end-to-end test.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05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Flow verification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NSG allows 443 but the service is stopped.
Resolve it using:
src_ip, dst_ip, dst_port, direction,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05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| input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id: flow-1
src: web
dst: app
port: 443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Synthetic fixture record.
Flow decision table with least-privilege rules.
The full dataset and instructions are in this lab’s own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05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| decision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745236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708660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rules=[(100,'web','app',443,'ALLOW'),(110,'app','data',1433,'A
LLOW')]
for r in rows:
    match=next((x for x in sorted(rules) if
(r['src'],r['dst'],r['port'])==x[1:4]),None)
    out.append({'id':r['id'],'decision':match[4] if match else
'DENY','rule':match[0] if match else 'default'})</a:t>
            </a:r>
          </a:p>
        </p:txBody>
      </p:sp>
      <p:sp>
        <p:nvSpPr>
          <p:cNvPr id="7" name="Rectangle 6"/>
          <p:cNvSpPr/>
          <p:nvPr/>
        </p:nvSpPr>
        <p:spPr>
          <a:xfrm>
            <a:off x="8302752" y="1783080"/>
            <a:ext cx="324612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938528"/>
            <a:ext cx="2843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READ THE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496312"/>
            <a:ext cx="2843784" cy="3355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Actual excerpt from analyse.py.
Python standard library only.
Offline rule model; AI review is separate.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05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| computed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Record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Observed 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flow-1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218688"/>
            <a:ext cx="5468112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282696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flow-2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3218688"/>
            <a:ext cx="5468112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3282696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DENY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078224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142232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flow-3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4078224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4142232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05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| evidence distribution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5230368"/>
            <a:ext cx="1063447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632704"/>
            <a:ext cx="101498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Counts from this lab’s synthetic fixture only. Inspect the specific failed records before proposing a control change; this is not a prevalence estimate.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Native editable PowerPoint chart; values from lab fixture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05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| test a changed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CONTROLLED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Change flow-1 port to 8443. It must be denied. Explain the exact rule needed if the application legitimately moves to 8443; do not allow every port.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EVIDENCE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the input SHA-256, changed field, predicted decision and actual decision. Explain discrepancies using the script.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05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| operational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Flow decision table with least-privilege rules.
Record scope, UTC time and approval state.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WHAT COUNTS AS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simulated pass proves the local rule only. A live claim requires configuration and an observed test. Record exact blockers and unresolved outcomes.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06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Firewall and WAF boundaries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Firewall controls network/application egress; WAF inspects HTTP application requests.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138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06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Firewall and WAF boundaries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layer
source
destination
host
request_path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WAF blocks a disallowed request at the web edge.
Show the traffic path and which layer makes each decision.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06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Firewall and WAF boundaries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WAF blocks a disallowed request at the web edge.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WAF is expected to inspect arbitrary SSH traffic.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Firewall controls network/application egress; WAF inspects HTTP application requests.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2 | LAB 06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Firewall and WAF boundaries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WAF blocks a disallowed request at the web edge.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Route non-HTTP controls to the correct network control and preserve WAF request evidence.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WAF is expected to inspect arbitrary SSH traffic.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06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Firewall and WAF boundaries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Show the traffic path and which layer makes each decision.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WAF blocks a disallowed request at the web edge.
Route non-HTTP controls to the correct network control and preserve WAF request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06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Firewall and WAF boundaries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WAF is expected to inspect arbitrary SSH traffic.
Resolve it using:
layer, source, destination, host, request_path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06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Private endpoint resolution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Private DNS resolves a service name to the endpoint NIC private address.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144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06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Private endpoint resolution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fqdn
resolved_ip
endpoint_ip
public_access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service resolves to 10.10.3.5 from the training VNet.
Record DNS output and endpoint approval state; endpoint creation alone is insufficient.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06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Private endpoint resolution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service resolves to 10.10.3.5 from the training VNet.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It resolves to a public address despite an approved endpoint.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Private DNS resolves a service name to the endpoint NIC private address.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2 | LAB 06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Private endpoint resolution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service resolves to 10.10.3.5 from the training VNet.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Check DNS zone linkage, resolver path and public-access configuration.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It resolves to a public address despite an approved endpoint.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147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06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Private endpoint resolution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DNS output and endpoint approval state; endpoint creation alone is insufficient.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service resolves to 10.10.3.5 from the training VNet.
Check DNS zone linkage, resolver path and public-access configuration.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06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Private endpoint resolution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It resolves to a public address despite an approved endpoint.
Resolve it using:
fqdn, resolved_ip, endpoint_ip, public_access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06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Egress allowlists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gateway authorises a destination independently of an AI agent's requested action.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150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06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Egress allowlists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tool
host
port
approved_destination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report goes to reports.example.test on port 443.
Log destination, policy result and correlation ID without exporting content.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06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Egress allowlists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report goes to reports.example.test on port 443.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retrieved document asks for upload to unknown.example.test.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gateway authorises a destination independently of an AI agent's requested action.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2 | LAB 06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Egress allowlists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report goes to reports.example.test on port 443.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Deny unapproved destinations and investigate the document as untrusted input.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retrieved document asks for upload to unknown.example.test.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153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06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Egress allowlists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Log destination, policy result and correlation ID without exporting content.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report goes to reports.example.test on port 443.
Deny unapproved destinations and investigate the document as untrusted input.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06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Egress allowlists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A retrieved document asks for upload to unknown.example.test.
Resolve it using:
tool, host, port, approved_destination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06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6 | input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id: storage-a
dns_ip: 10.10.3.5
endpoint_ip: 10.10.3.5
public_access: False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Synthetic fixture record.
Private-access diagnosis and traffic-layer diagram.
The full dataset and instructions are in this lab’s own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06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6 | decision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745236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708660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 r in rows:
    decision='DNS_MISMATCH' if r['dns_ip']!=r['endpoint_ip']
else ('PUBLIC_PATH_REMAINS' if r['public_access'] else
'PRIVATE_CONFIG')
    out.append({'id':r['id'],'decision':decision})</a:t>
            </a:r>
          </a:p>
        </p:txBody>
      </p:sp>
      <p:sp>
        <p:nvSpPr>
          <p:cNvPr id="7" name="Rectangle 6"/>
          <p:cNvSpPr/>
          <p:nvPr/>
        </p:nvSpPr>
        <p:spPr>
          <a:xfrm>
            <a:off x="8302752" y="1783080"/>
            <a:ext cx="324612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938528"/>
            <a:ext cx="2843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READ THE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496312"/>
            <a:ext cx="2843784" cy="3355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Actual excerpt from analyse.py.
Python standard library only.
Offline rule model; AI review is separate.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06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6 | computed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Record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Observed 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storage-a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PRIVATE_CONFIG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218688"/>
            <a:ext cx="5468112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282696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storage-b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3218688"/>
            <a:ext cx="5468112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3282696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DNS_MISMATCH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078224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142232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storage-c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4078224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4142232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PUBLIC_PATH_REMAINS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158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06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6 | evidence distribution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5230368"/>
            <a:ext cx="1063447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632704"/>
            <a:ext cx="101498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Counts from this lab’s synthetic fixture only. Inspect the specific failed records before proposing a control change; this is not a prevalence estimate.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Native editable PowerPoint chart; values from lab fixture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06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6 | test a changed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CONTROLLED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Correct storage-b dns_ip to 10.10.3.6. Its result becomes PRIVATE_CONFIG, but list the real connection and authentication tests still required.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EVIDENCE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the input SHA-256, changed field, predicted decision and actual decision. Explain discrepancies using the script.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06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6 | operational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Private-access diagnosis and traffic-layer diagram.
Record scope, UTC time and approval state.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WHAT COUNTS AS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simulated pass proves the local rule only. A live claim requires configuration and an observed test. Record exact blockers and unresolved outcomes.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7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B7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B77900"/>
                </a:solidFill>
                <a:latin typeface="Arial"/>
              </a:rPr>
              <a:t>15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07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Bastion access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managed jump path can remove direct public administrative exposure on a VM.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163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07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Bastion access path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vm_public_ip
admin_port
bastion_path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VM has no public IP and uses the approved Bastion path.
Capture NIC public IP state and effective inbound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07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Bastion access path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VM has no public IP and uses the approved Bastion path.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TCP 3389 is open from the internet alongside Bastion.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managed jump path can remove direct public administrative exposure on a VM.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2 | LAB 07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Bastion access path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VM has no public IP and uses the approved Bastion path.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Remove the direct exposure after validating the managed access path and recovery plan.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TCP 3389 is open from the internet alongside Bastion.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166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07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Bastion access path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Capture NIC public IP state and effective inbound rules.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VM has no public IP and uses the approved Bastion path.
Remove the direct exposure after validating the managed access path and recovery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07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Bastion access path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TCP 3389 is open from the internet alongside Bastion.
Resolve it using:
vm_public_ip, admin_port, bastion_path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07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Just in time administration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Time-limited access narrows source and duration for administrative ports.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169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07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Just in time administration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source_cidr
port
requested_minutes
expiry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One approved source opens port 22 for 30 minutes.
Keep request, approval, start, expiry and post-expiry denial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07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Just in time administration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One approved source opens port 22 for 30 minutes.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0.0.0.0/0 is allowed without an expiry.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Time-limited access narrows source and duration for administrative ports.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2 | LAB 07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Just in time administration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One approved source opens port 22 for 30 minutes.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Close the broad rule and verify access expires; approval is distinct from successful use.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0.0.0.0/0 is allowed without an expiry.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07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Just in time administration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Keep request, approval, start, expiry and post-expiry denial evidence.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One approved source opens port 22 for 30 minutes.
Close the broad rule and verify access expires; approval is distinct from successful use.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07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Just in time administration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0.0.0.0/0 is allowed without an expiry.
Resolve it using:
source_cidr, port, requested_minutes, expiry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07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Encryption and identity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Encryption protects stored bytes while identity controls authorised plaintext access.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175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07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Encryption and identity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encryption_state
key_reference
principal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Encrypted disks remain protected by scoped operator access.
Separate encryption configuration evidence from access test results.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07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Encryption and identity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Encrypted disks remain protected by scoped operator access.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broad identity reads data legitimately despite encryption.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Encryption protects stored bytes while identity controls authorised plaintext access.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2 | LAB 07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Encryption and identity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Encrypted disks remain protected by scoped operator access.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Reduce identity permissions; encryption cannot compensate for authorised over-access.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broad identity reads data legitimately despite encryption.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178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07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Encryption and identity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Separate encryption configuration evidence from access test results.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Encrypted disks remain protected by scoped operator access.
Reduce identity permissions; encryption cannot compensate for authorised over-access.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07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Encryption and identity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A broad identity reads data legitimately despite encryption.
Resolve it using:
encryption_state, key_reference, principal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07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7 | input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id: vm-a
public_admin: False
jit_minutes: 30
encrypted: True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Synthetic fixture record.
Vm control evidence matrix.
The full dataset and instructions are in this lab’s own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07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7 | decision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745236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708660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 r in rows:
    issues=[]
    if r['public_admin']: issues.append('PUBLIC_ADMIN')
    if r['jit_minutes']&gt;60: issues.append('LONG_WINDOW')
    if not r['encrypted']: issues.append('ENCRYPTION_REVIEW')
    out.append({'id':r['id'],'decision':','.join(issues) if
issues else 'BASELINE_OK'})</a:t>
            </a:r>
          </a:p>
        </p:txBody>
      </p:sp>
      <p:sp>
        <p:nvSpPr>
          <p:cNvPr id="7" name="Rectangle 6"/>
          <p:cNvSpPr/>
          <p:nvPr/>
        </p:nvSpPr>
        <p:spPr>
          <a:xfrm>
            <a:off x="8302752" y="1783080"/>
            <a:ext cx="324612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938528"/>
            <a:ext cx="2843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READ THE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496312"/>
            <a:ext cx="2843784" cy="3355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Actual excerpt from analyse.py.
Python standard library only.
Offline rule model; AI review is separate.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07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7 | computed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Record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Observed 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vm-a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BASELINE_OK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218688"/>
            <a:ext cx="5468112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282696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vm-b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3218688"/>
            <a:ext cx="5468112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3282696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PUBLIC_ADMIN,LONG_WINDOW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078224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142232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vm-c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4078224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4142232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ENCRYPTION_REVIEW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183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07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7 | evidence distribution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5230368"/>
            <a:ext cx="1063447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632704"/>
            <a:ext cx="101498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Counts from this lab’s synthetic fixture only. Inspect the specific failed records before proposing a control change; this is not a prevalence estimate.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Native editable PowerPoint chart; values from lab fixture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07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7 | test a changed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CONTROLLED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Set vm-b public_admin to false. LONG_WINDOW must remain; closing one exposure does not satisfy all controls.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EVIDENCE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the input SHA-256, changed field, predicted decision and actual decision. Explain discrepancies using the script.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07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7 | operational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Vm control evidence matrix.
Record scope, UTC time and approval state.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WHAT COUNTS AS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simulated pass proves the local rule only. A live claim requires configuration and an observed test. Record exact blockers and unresolved outcomes.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08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Storage access boundaries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Data-plane roles, shared keys, SAS and public access create distinct access paths.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187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08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Storage access boundaries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allow_public
allow_shared_key
sas_expiry
data_role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identity receives scoped blob data access with public access disabled.
Capture role scope, anonymous denial and expiry of temporary grants.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08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Storage access boundaries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identity receives scoped blob data access with public access disabled.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account key enables broad access outside the intended identity scope.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Data-plane roles, shared keys, SAS and public access create distinct access paths.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2 | LAB 08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Storage access boundaries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identity receives scoped blob data access with public access disabled.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Inventory every enabled access path before calling a storage account private.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account key enables broad access outside the intended identity scope.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08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Storage access boundaries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Capture role scope, anonymous denial and expiry of temporary grants.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identity receives scoped blob data access with public access disabled.
Inventory every enabled access path before calling a storage account private.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08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Storage access boundaries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An account key enables broad access outside the intended identity scope.
Resolve it using:
allow_public, allow_shared_key, sas_expiry, data_role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08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SQL and secret protection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database authenticates a principal and authorises its operations; a vault limits secret retrieval.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193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08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SQL and secret protection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sql_principal
database_role
vault_role
secret_version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read-only database user and scoped secret reader serve a reporting workload.
Record role names and secret metadata, never the secret value.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08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SQL and secret protection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read-only database user and scoped secret reader serve a reporting workload.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shared administrator secret is pasted into a notebook.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database authenticates a principal and authorises its operations; a vault limits secret retrieval.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2 | LAB 08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SQL and secret protection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read-only database user and scoped secret reader serve a reporting workload.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an approved identity path and rotate any exposed live secret; keep values out of screenshots.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shared administrator secret is pasted into a notebook.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08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SQL and secret protection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role names and secret metadata, never the secret value.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read-only database user and scoped secret reader serve a reporting workload.
Use an approved identity path and rotate any exposed live secret; keep values out of screenshots.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197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08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SQL and secret protection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A shared administrator secret is pasted into a notebook.
Resolve it using:
sql_principal, database_role, vault_role, secret_version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198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08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Retention and recovery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Recovery points and restore tests establish recoverability independently of encryption.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199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08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Retention and recovery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backup_time
restore_time
rpo_minutes
rto_minutes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15-minute data gap meets a 30-minute RPO.
Record measured data loss and elapsed restoration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08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Retention and recovery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15-minute data gap meets a 30-minute RPO.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backup exists but the restore fails due to missing key access.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Recovery points and restore tests establish recoverability independently of encryption.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2 | LAB 08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Retention and recovery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15-minute data gap meets a 30-minute RPO.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Test restoration in an isolated target and include key availability in the recovery design.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backup exists but the restore fails due to missing key access.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08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Retention and recovery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measured data loss and elapsed restoration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15-minute data gap meets a 30-minute RPO.
Test restoration in an isolated target and include key availability in the recovery design.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08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Retention and recovery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A backup exists but the restore fails due to missing key access.
Resolve it using:
backup_time, restore_time, rpo_minutes, rto_minutes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08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8 | input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id: data-a
public: False
shared_key: False
secret_in_code: False
rpo: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Synthetic fixture record.
Data-access and recovery exception report.
The full dataset and instructions are in this lab’s own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08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8 | decision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745236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708660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 r in rows:
    issues=[]
    if r['public'] or r['shared_key']:
issues.append('ACCESS_REVIEW')
    if r['secret_in_code']: issues.append('SECRET_EXPOSURE')
    if r['rpo']&gt;30: issues.append('RPO_BREACH')
    out.append({'id':r['id'],'decision':','.join(issues) if
issues else 'BASELINE_OK'})</a:t>
            </a:r>
          </a:p>
        </p:txBody>
      </p:sp>
      <p:sp>
        <p:nvSpPr>
          <p:cNvPr id="7" name="Rectangle 6"/>
          <p:cNvSpPr/>
          <p:nvPr/>
        </p:nvSpPr>
        <p:spPr>
          <a:xfrm>
            <a:off x="8302752" y="1783080"/>
            <a:ext cx="324612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938528"/>
            <a:ext cx="2843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READ THE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496312"/>
            <a:ext cx="2843784" cy="3355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Actual excerpt from analyse.py.
Python standard library only.
Offline rule model; AI review is separate.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08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8 | computed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Record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Observed 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data-a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BASELINE_OK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218688"/>
            <a:ext cx="5468112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282696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data-b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3218688"/>
            <a:ext cx="5468112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3282696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ACCESS_REVIEW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078224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142232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data-c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4078224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4142232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SECRET_EXPOSURE,RPO_BREACH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08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8 | evidence distribution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5230368"/>
            <a:ext cx="1063447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632704"/>
            <a:ext cx="101498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Counts from this lab’s synthetic fixture only. Inspect the specific failed records before proposing a control change; this is not a prevalence estimate.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Native editable PowerPoint chart; values from lab fixture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08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8 | test a changed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CONTROLLED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Set data-c secret_in_code to false. RPO_BREACH must remain; access hygiene and recovery objectives are separate.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EVIDENCE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the input SHA-256, changed field, predicted decision and actual decision. Explain discrepancies using the script.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2 | LAB 08 |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8 | operational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Data-access and recovery exception report.
Record scope, UTC time and approval state.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WHAT COUNTS AS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simulated pass proves the local rule only. A live claim requires configuration and an observed test. Record exact blockers and unresolved outcomes.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Day 2 | evidence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EXHIBITS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Labs 5–8: compare baseline, changed-input result and source checksum.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REVIEW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Which claim is supported by a record? Which control still needs operational verification? Cite the exact artifact and uncertainty.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Monitoring and investigation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Technical mechanisms, evidence and diagnostic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09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Policy effect semantics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Audit records noncompliance; deny prevents supported noncompliant resource requests.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213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09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Policy effect semantics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effect
assignment_scope
resource_type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Audit flags public exposure for review.
Capture effect, scope, exemption and compliance timestamp.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09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Policy effect semantics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Audit flags public exposure for review.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audit-only assignment is described as blocking deployment.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Audit records noncompliance; deny prevents supported noncompliant resource requests.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3 | LAB 09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Policy effect semantics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Audit flags public exposure for review.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Choose the intended effect, examine exemptions and re-evaluate actual resource state.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audit-only assignment is described as blocking deployment.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09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Policy effect semantics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Capture effect, scope, exemption and compliance timestamp.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Audit flags public exposure for review.
Choose the intended effect, examine exemptions and re-evaluate actual resource state.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09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Policy effect semantics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An audit-only assignment is described as blocking deployment.
Resolve it using:
effect, assignment_scope, resource_type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09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Posture prioritisation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posture recommendation becomes actionable when tied to affected assets and validated exposure.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219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09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Posture prioritisation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recommendation_id
resource_id
severity
owner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critical recommendation affects the internet-facing payment VM.
Record resource state, owner, remediation ticket and retest.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09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Posture prioritisation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critical recommendation affects the internet-facing payment VM.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stale recommendation references a removed resource.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posture recommendation becomes actionable when tied to affected assets and validated exposure.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3 | LAB 09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Posture prioritisation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critical recommendation affects the internet-facing payment VM.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 existence and exposure before scheduling remediation; score changes are not risk proof.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stale recommendation references a removed resource.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09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Posture prioritisation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resource state, owner, remediation ticket and retest.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critical recommendation affects the internet-facing payment VM.
Verify existence and exposure before scheduling remediation; score changes are not risk proof.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09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Posture prioritisation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A stale recommendation references a removed resource.
Resolve it using:
recommendation_id, resource_id, severity, owner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09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Exception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risk exception is bounded by an owner, compensating control and expiry.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225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09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Exception lifecycle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exception_id
expires_utc
owner
compensating_control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temporary exception expires after a planned migration.
List expired exceptions separately from compliant controls.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09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Exception lifecycle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temporary exception expires after a planned migration.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indefinite exception suppresses a recurring critical finding.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risk exception is bounded by an owner, compensating control and expiry.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3 | LAB 09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Exception lifecycle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temporary exception expires after a planned migration.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Escalate overdue exceptions and restore normal evaluation after expiry.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indefinite exception suppresses a recurring critical finding.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09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Exception lifecycle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List expired exceptions separately from compliant controls.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temporary exception expires after a planned migration.
Escalate overdue exceptions and restore normal evaluation after expiry.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09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Exception lifecycle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An indefinite exception suppresses a recurring critical finding.
Resolve it using:
exception_id, expires_utc, owner, compensating_control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09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9 | input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id: pol-a
effect: audit
compliant: False
exception_expired: False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Synthetic fixture record.
Policy finding register with accountable owners.
The full dataset and instructions are in this lab’s own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09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9 | decision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745236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708660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 r in rows:
    decision='EXPIRED_EXCEPTION' if r['exception_expired']
else ('COMPLIANT' if r['compliant'] else ('WOULD_DENY_REQUEST'
if r['effect']=='deny' else 'AUDIT_FINDING'))
    out.append({'id':r['id'],'decision':decision})</a:t>
            </a:r>
          </a:p>
        </p:txBody>
      </p:sp>
      <p:sp>
        <p:nvSpPr>
          <p:cNvPr id="7" name="Rectangle 6"/>
          <p:cNvSpPr/>
          <p:nvPr/>
        </p:nvSpPr>
        <p:spPr>
          <a:xfrm>
            <a:off x="8302752" y="1783080"/>
            <a:ext cx="324612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938528"/>
            <a:ext cx="2843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READ THE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496312"/>
            <a:ext cx="2843784" cy="3355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Actual excerpt from analyse.py.
Python standard library only.
Offline rule model; AI review is separate.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09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9 | computed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Record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Observed 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pol-a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AUDIT_FINDING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218688"/>
            <a:ext cx="5468112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282696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pol-b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3218688"/>
            <a:ext cx="5468112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3282696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WOULD_DENY_REQUEST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078224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142232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pol-c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4078224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4142232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EXPIRED_EXCEPTION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233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09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9 | evidence distribution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5230368"/>
            <a:ext cx="1063447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632704"/>
            <a:ext cx="101498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Counts from this lab’s synthetic fixture only. Inspect the specific failed records before proposing a control change; this is not a prevalence estimate.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Native editable PowerPoint chart; values from lab fixture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09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9 | test a changed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CONTROLLED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Change pol-a effect to deny. Explain that the model describes a new request, not automatic remediation of an existing resource.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EVIDENCE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the input SHA-256, changed field, predicted decision and actual decision. Explain discrepancies using the script.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09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9 | operational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Policy finding register with accountable owners.
Record scope, UTC time and approval state.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WHAT COUNTS AS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simulated pass proves the local rule only. A live claim requires configuration and an observed test. Record exact blockers and unresolved outcomes.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10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Log schema and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Normalise event time and actor identifiers before correlating records.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237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10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Log schema and time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event_id
event_time_utc
user_id
operation
result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Two sources use UTC and the same stable actor ID.
Record timezone conversion and the event-to-ingestion delay.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10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Log schema and time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Two sources use UTC and the same stable actor ID.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Local time is interpreted as UTC and changes event ordering.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Normalise event time and actor identifiers before correlating records.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3 | LAB 10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Log schema and time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Two sources use UTC and the same stable actor ID.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Retain raw time and normalisation rules; distinguish ingestion delay from event time.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Local time is interpreted as UTC and changes event ordering.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10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Log schema and time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timezone conversion and the event-to-ingestion delay.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Two sources use UTC and the same stable actor ID.
Retain raw time and normalisation rules; distinguish ingestion delay from event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10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Log schema and time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Local time is interpreted as UTC and changes event ordering.
Resolve it using:
event_id, event_time_utc, user_id, operation,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10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Detection threshold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Group failures by actor and time window; compare the count to a defined threshold.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243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10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Detection threshold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window_minutes=5
failed_count&gt;=5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Six failures for user_004 in five minutes trigger review.
Retain the contributing event IDs and precise window boundaries.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10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Detection threshold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Six failures for user_004 in five minutes trigger review.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Six failures spread across six hours do not meet the rule.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Group failures by actor and time window; compare the count to a defined threshold.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3 | LAB 10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Detection threshold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Six failures for user_004 in five minutes trigger review.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time-bounded grouping and validate service-account baselines to reduce noise.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Six failures spread across six hours do not meet the rule.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246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10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Detection threshold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Retain the contributing event IDs and precise window boundaries.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Six failures for user_004 in five minutes trigger review.
Use time-bounded grouping and validate service-account baselines to reduce noise.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10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Detection threshold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Six failures spread across six hours do not meet the rule.
Resolve it using:
window_minutes=5, failed_count&gt;=5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10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Detection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 detector output to labelled cases to measure precision and recall.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249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10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Detection metrics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precision=TP/(TP+FP); recall=TP/(TP+FN)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TP=8, FP=2, FN=4 gives 80% precision and 66.7% recall.
Save confusion counts, threshold and dataset version.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10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Detection metrics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TP=8, FP=2, FN=4 gives 80% precision and 66.7% recall.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Reporting accuracy alone hides missed incidents in an imbalanced set.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Compare detector output to labelled cases to measure precision and recall.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3 | LAB 10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Detection metrics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TP=8, FP=2, FN=4 gives 80% precision and 66.7% recall.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false negatives and tune using a held-out dataset; avoid testing on tuning data.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Reporting accuracy alone hides missed incidents in an imbalanced set.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10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Detection metrics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Save confusion counts, threshold and dataset version.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TP=8, FP=2, FN=4 gives 80% precision and 66.7% recall.
Review false negatives and tune using a held-out dataset; avoid testing on tuning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10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Detection metrics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Reporting accuracy alone hides missed incidents in an imbalanced set.
Resolve it using:
precision=TP/(TP+FP); recall=TP/(TP+FN)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10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10 | input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id: e1
user: user_004
minute: 1
failed: True
label: True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Synthetic fixture record.
Time-window detection output and tuning note.
The full dataset and instructions are in this lab’s own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10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10 | decision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745236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708660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 user in sorted({r['user'] for r in rows}):
    events=sorted([r for r in rows if r['user']==user and
r['failed']],key=lambda r:r['minute'])
    peak=max((sum(0&lt;=x['minute']-e['minute']&lt;5 for x in
events) for e in events),default=0)
    out.append({'id':user,'peak':peak,'decision':'ALERT' if
peak&gt;=5 else 'NO_ALERT'})</a:t>
            </a:r>
          </a:p>
        </p:txBody>
      </p:sp>
      <p:sp>
        <p:nvSpPr>
          <p:cNvPr id="7" name="Rectangle 6"/>
          <p:cNvSpPr/>
          <p:nvPr/>
        </p:nvSpPr>
        <p:spPr>
          <a:xfrm>
            <a:off x="8302752" y="1783080"/>
            <a:ext cx="324612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938528"/>
            <a:ext cx="2843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READ THE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496312"/>
            <a:ext cx="2843784" cy="3355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Actual excerpt from analyse.py.
Python standard library only.
Offline rule model; AI review is separate.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10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10 | computed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Record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Observed 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user_004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ALERT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218688"/>
            <a:ext cx="5468112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282696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user_007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3218688"/>
            <a:ext cx="5468112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3282696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NO_ALERT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257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10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10 | evidence distribution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5230368"/>
            <a:ext cx="1063447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632704"/>
            <a:ext cx="101498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five-minute peak failure counts. The classroom alert threshold is five; the window is as important as the total.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258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Native editable PowerPoint chart; values from lab fixture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10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10 | test a changed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CONTROLLED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Move e5 to minute 10. The five-minute peak becomes 4 and the alert disappears. Explain the blind spot and propose a separately tested longer-window detector.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EVIDENCE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the input SHA-256, changed field, predicted decision and actual decision. Explain discrepancies using the script.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10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10 | operational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Time-window detection output and tuning note.
Record scope, UTC time and approval state.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WHAT COUNTS AS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simulated pass proves the local rule only. A live claim requires configuration and an observed test. Record exact blockers and unresolved outcomes.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7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B7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B77900"/>
                </a:solidFill>
                <a:latin typeface="Arial"/>
              </a:rPr>
              <a:t>15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11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Least privilege troubleshooting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Diagnose actor, scope, action and policy before granting broader access.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262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11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Least privilege troubleshooting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actor_id
target_scope
attempted_action
error_code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failing action is absent at the intended resource scope.
Keep the original error, policy evaluation and post-fix result.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11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Least privilege troubleshooting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failing action is absent at the intended resource scope.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Owner is granted without identifying the failing action.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Diagnose actor, scope, action and policy before granting broader access.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3 | LAB 11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Least privilege troubleshooting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failing action is absent at the intended resource scope.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Add only a justified permission through approval and repeat a negative test outside scope.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 is granted without identifying the failing action.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11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Least privilege troubleshooting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Keep the original error, policy evaluation and post-fix result.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failing action is absent at the intended resource scope.
Add only a justified permission through approval and repeat a negative test outside scope.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11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Least privilege troubleshooting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Owner is granted without identifying the failing action.
Resolve it using:
actor_id, target_scope, attempted_action, error_code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11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Access review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 actual grants to job need and make an accountable retain/revoke decision.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268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11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Access review decisions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principal
grant
business_need
reviewer
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inactive contractor's unneeded grant is revoked.
Record reviewer reasoning and a subsequent denied access attempt.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11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Access review decisions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inactive contractor's unneeded grant is revoked.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reviewer approves every grant without evidence of need.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Compare actual grants to job need and make an accountable retain/revoke decision.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3 | LAB 11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Access review decisions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inactive contractor's unneeded grant is revoked.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Investigate stale accounts and verify revocation across group and direct assignments.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reviewer approves every grant without evidence of need.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11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Access review decisions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reviewer reasoning and a subsequent denied access attempt.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inactive contractor's unneeded grant is revoked.
Investigate stale accounts and verify revocation across group and direct assignments.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11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Access review decisions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A reviewer approves every grant without evidence of need.
Resolve it using:
principal, grant, business_need, reviewer,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11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Separation of duties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requester cannot approve their own privileged change when the process requires independent review.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274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11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Separation of duties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requester_id
approver_id
requested_action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user_004 requests and owner_002 approves.
Capture both identities and the immutable request identifier.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11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Separation of duties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user_004 requests and owner_002 approves.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requester and approver are the same principal.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requester cannot approve their own privileged change when the process requires independent review.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3 | LAB 11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Separation of duties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user_004 requests and owner_002 approves.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Reject self-approval and route to an authorised independent owner.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requester and approver are the same principal.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277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11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Separation of duties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Capture both identities and the immutable request identifier.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user_004 requests and owner_002 approves.
Reject self-approval and route to an authorised independent owner.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11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Separation of duties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The requester and approver are the same principal.
Resolve it using:
requester_id, approver_id, requested_action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11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11 | input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id: req-a
action: read
grants: ['read']
requester: u1
approver: u2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Synthetic fixture record.
Access diagnosis and review decisions.
The full dataset and instructions are in this lab’s own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11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11 | decision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745236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708660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 r in rows:
    decision='SELF_APPROVAL' if r['requester']==r['approver']
else ('ALLOW' if r['action'] in r['grants'] else
'MISSING_ACTION')
    out.append({'id':r['id'],'decision':decision})</a:t>
            </a:r>
          </a:p>
        </p:txBody>
      </p:sp>
      <p:sp>
        <p:nvSpPr>
          <p:cNvPr id="7" name="Rectangle 6"/>
          <p:cNvSpPr/>
          <p:nvPr/>
        </p:nvSpPr>
        <p:spPr>
          <a:xfrm>
            <a:off x="8302752" y="1783080"/>
            <a:ext cx="324612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938528"/>
            <a:ext cx="2843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READ THE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496312"/>
            <a:ext cx="2843784" cy="3355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Actual excerpt from analyse.py.
Python standard library only.
Offline rule model; AI review is separate.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11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11 | computed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Record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Observed 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req-a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218688"/>
            <a:ext cx="5468112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282696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req-b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3218688"/>
            <a:ext cx="5468112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3282696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MISSING_ACTION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078224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142232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req-c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4078224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4142232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SELF_APPROVAL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11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11 | evidence distribution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5230368"/>
            <a:ext cx="1063447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632704"/>
            <a:ext cx="101498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Counts from this lab’s synthetic fixture only. Inspect the specific failed records before proposing a control change; this is not a prevalence estimate.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Native editable PowerPoint chart; values from lab fixture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11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11 | test a changed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CONTROLLED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Add write to req-b grants and leave req-c unchanged. Only req-b should become ALLOW. Explain why role permission does not replace independent approval.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EVIDENCE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the input SHA-256, changed field, predicted decision and actual decision. Explain discrepancies using the script.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11 |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11 | operational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Access diagnosis and review decisions.
Record scope, UTC time and approval state.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WHAT COUNTS AS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simulated pass proves the local rule only. A live claim requires configuration and an observed test. Record exact blockers and unresolved outcomes.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12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led investigation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hypothesis is tested against events rather than treated as a fact because AI repeats it.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286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12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led investigation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hypothesis
supporting_ids
contradicting_ids
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access event and role change support a privilege-use hypothesis.
Maintain a hypothesis table with supported, contradicted and unresolved states.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12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led investigation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access event and role change support a privilege-use hypothesis.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Only a high anomaly score supports a claimed compromise.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hypothesis is tested against events rather than treated as a fact because AI repeats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3 | LAB 12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led investigation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access event and role change support a privilege-use hypothesis.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Collect corroboration and record uncertainty before containment decisions.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Only a high anomaly score supports a claimed compromise.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289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12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led investigation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Maintain a hypothesis table with supported, contradicted and unresolved states.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access event and role change support a privilege-use hypothesis.
Collect corroboration and record uncertainty before containment decisions.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12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led investigation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Only a high anomaly score supports a claimed compromise.
Resolve it using:
hypothesis, supporting_ids, contradicting_ids,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12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Incident timeline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Order events by event time while retaining sources and integrity hashes.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292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12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Incident timeline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timestamp_utc
event_id
actor
source_hash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E03 role grant precedes E07 resource read.
The timeline must cite exact event IDs and UTC timestamps.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293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12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Incident timeline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E03 role grant precedes E07 resource read.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summary reverses the order and claims the read caused the grant.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Order events by event time while retaining sources and integrity hashes.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3 | LAB 12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Incident timeline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E03 role grant precedes E07 resource read.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Rebuild chronology from raw evidence and preserve original files unchanged.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summary reverses the order and claims the read caused the grant.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12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Incident timeline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timeline must cite exact event IDs and UTC timestamps.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E03 role grant precedes E07 resource read.
Rebuild chronology from raw evidence and preserve original files unchanged.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12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Incident timeline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A summary reverses the order and claims the read caused the grant.
Resolve it using:
timestamp_utc, event_id, actor, source_hash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297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12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Containment approval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analyst chooses a proportionate action and an authorised owner approves its execution.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298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12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Containment approval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incident_id
action
approver
rollback
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test account suspension is approved with a recovery owner.
Record decision rationale, authority, action result and recovery route.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299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12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Containment approval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test account suspension is approved with a recovery owner.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AI summary directly disables a production administrator.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analyst chooses a proportionate action and an authorised owner approves its execution.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3 | LAB 12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Containment approval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test account suspension is approved with a recovery owner.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Hold execution until approval and scope checks pass; preserve forensic evidence first.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AI summary directly disables a production administrator.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12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Containment approval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decision rationale, authority, action result and recovery route.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test account suspension is approved with a recovery owner.
Hold execution until approval and scope checks pass; preserve forensic evidence first.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12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Containment approval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An AI summary directly disables a production administrator.
Resolve it using:
incident_id, action, approver, rollback,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12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12 | input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id: E07
minute: 7
actor: user_004
action: read-data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Synthetic fixture record.
Chronological evidence timeline and incident brief.
The full dataset and instructions are in this lab’s own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12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12 | decision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745236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708660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 r in sorted(rows,key=lambda r:r['minute']):
    out.append({'id':r['id'],'minute':r['minute'],'decision':r
['action']})</a:t>
            </a:r>
          </a:p>
        </p:txBody>
      </p:sp>
      <p:sp>
        <p:nvSpPr>
          <p:cNvPr id="7" name="Rectangle 6"/>
          <p:cNvSpPr/>
          <p:nvPr/>
        </p:nvSpPr>
        <p:spPr>
          <a:xfrm>
            <a:off x="8302752" y="1783080"/>
            <a:ext cx="324612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938528"/>
            <a:ext cx="2843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READ THE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496312"/>
            <a:ext cx="2843784" cy="3355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Actual excerpt from analyse.py.
Python standard library only.
Offline rule model; AI review is separate.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12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12 | computed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Record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Observed 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218688"/>
            <a:ext cx="5468112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282696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3218688"/>
            <a:ext cx="5468112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3282696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role-grant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078224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142232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4078224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4142232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read-data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12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12 | evidence distribution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5230368"/>
            <a:ext cx="1063447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632704"/>
            <a:ext cx="101498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Counts from this lab’s synthetic fixture only. Inspect the specific failed records before proposing a control change; this is not a prevalence estimate.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Native editable PowerPoint chart; values from lab fixture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12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12 | test a changed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CONTROLLED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Change E07 minute to 2. The read now precedes the role grant. Revise the hypothesis instead of retaining the original causal claim.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EVIDENCE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the input SHA-256, changed field, predicted decision and actual decision. Explain discrepancies using the script.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3 | LAB 12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12 | operational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Chronological evidence timeline and incident brief.
Record scope, UTC time and approval state.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WHAT COUNTS AS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simulated pass proves the local rule only. A live claim requires configuration and an observed test. Record exact blockers and unresolved outcomes.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Day 3 | evidence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EXHIBITS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Labs 9–12: compare baseline, changed-input result and source checksum.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REVIEW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Which claim is supported by a record? Which control still needs operational verification? Cite the exact artifact and uncertainty.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AI control and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Technical mechanisms, evidence and diagnostic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13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Indirect prompt injection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Untrusted retrieved text tries to alter an agent's objective or trigger tools.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312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13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Indirect prompt injection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document_id
trust_level
requested_tool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agent treats a quoted instruction as evidence to summarise.
Record the injected document ID and denied tool request.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13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Indirect prompt injection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agent treats a quoted instruction as evidence to summarise.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retrieved log tells the agent to upload confidential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Untrusted retrieved text tries to alter an agent's objective or trigger tools.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4 | LAB 13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Indirect prompt injection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agent treats a quoted instruction as evidence to summarise.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Enforce tool authorisation outside the model and quarantine suspicious context.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retrieved log tells the agent to upload confidential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13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Indirect prompt injection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the injected document ID and denied tool request.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agent treats a quoted instruction as evidence to summarise.
Enforce tool authorisation outside the model and quarantine suspicious context.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13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Indirect prompt injection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A retrieved log tells the agent to upload confidential data.
Resolve it using:
document_id, trust_level, requested_tool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13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RAG access filtering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Retrieval limits chunks to the requesting user's allowed data before generation.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13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RAG access filtering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user_tenant
chunk_tenant
classification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Tenant A retrieves only tenant A approved chunks.
Log retrieval filters and test cross-tenant denied queries.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13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RAG access filtering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Tenant A retrieves only tenant A approved chunks.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model receives tenant B chunks and is told not to repeat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Retrieval limits chunks to the requesting user's allowed data before generation.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4 | LAB 13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RAG access filtering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Tenant A retrieves only tenant A approved chunks.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Filter before context assembly; post-generation masking cannot remove prior exposure.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model receives tenant B chunks and is told not to repeat them.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13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RAG access filtering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Log retrieval filters and test cross-tenant denied queries.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Tenant A retrieves only tenant A approved chunks.
Filter before context assembly; post-generation masking cannot remove prior exposure.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13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RAG access filtering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The model receives tenant B chunks and is told not to repeat them.
Resolve it using:
user_tenant, chunk_tenant,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13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Memory poisoning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Persistent state must have provenance and bounded scope before reuse.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324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13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Memory poisoning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memory_id
source
tenant_id
expires_at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verified preference stays within the same user scope.
Record writer identity, source trust and memory expiry.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13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Memory poisoning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verified preference stays within the same user scope.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malicious document stores an instruction as global policy.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Persistent state must have provenance and bounded scope before reuse.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4 | LAB 13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Memory poisoning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verified preference stays within the same user scope.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Reject untrusted writes and invalidate contaminated entries through an audited process.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malicious document stores an instruction as global policy.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13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Memory poisoning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writer identity, source trust and memory expiry.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verified preference stays within the same user scope.
Reject untrusted writes and invalidate contaminated entries through an audited process.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13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Memory poisoning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A malicious document stores an instruction as global policy.
Resolve it using:
memory_id, source, tenant_id, expires_at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13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13 | input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id: chunk-a
tenant: A
requested_tenant: A
text: Approved incident procedure
trusted: True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Synthetic fixture record.
Retrieval boundary test and injection analysis.
The full dataset and instructions are in this lab’s own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13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13 | decision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745236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708660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 r in rows:
    decision='DENY_TENANT' if
r['tenant']!=r['requested_tenant'] else
('QUARANTINE_UNTRUSTED' if not r['trusted'] else 'RETRIEVE')
    out.append({'id':r['id'],'decision':decision})</a:t>
            </a:r>
          </a:p>
        </p:txBody>
      </p:sp>
      <p:sp>
        <p:nvSpPr>
          <p:cNvPr id="7" name="Rectangle 6"/>
          <p:cNvSpPr/>
          <p:nvPr/>
        </p:nvSpPr>
        <p:spPr>
          <a:xfrm>
            <a:off x="8302752" y="1783080"/>
            <a:ext cx="324612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938528"/>
            <a:ext cx="2843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READ THE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496312"/>
            <a:ext cx="2843784" cy="3355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Actual excerpt from analyse.py.
Python standard library only.
Offline rule model; AI review is separate.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13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13 | computed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Record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Observed 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chunk-a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RETRIEVE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218688"/>
            <a:ext cx="5468112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282696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chunk-b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3218688"/>
            <a:ext cx="5468112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3282696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DENY_TENANT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078224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142232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chunk-c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4078224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4142232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QUARANTINE_UNTRUSTED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13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13 | evidence distribution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5230368"/>
            <a:ext cx="1063447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632704"/>
            <a:ext cx="101498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Counts from this lab’s synthetic fixture only. Inspect the specific failed records before proposing a control change; this is not a prevalence estimate.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Native editable PowerPoint chart; values from lab fixture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13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13 | test a changed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CONTROLLED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Replace chunk-c text with an innocuous paraphrase but keep trusted false. It must remain quarantined; this fixture uses provenance rather than a keyword detector.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EVIDENCE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the input SHA-256, changed field, predicted decision and actual decision. Explain discrepancies using the script.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13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13 | operational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Retrieval boundary test and injection analysis.
Record scope, UTC time and approval state.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WHAT COUNTS AS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simulated pass proves the local rule only. A live claim requires configuration and an observed test. Record exact blockers and unresolved outcomes.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14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Tool schema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gateway checks required fields and allowed values before calling a privileged API.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336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14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Tool schema validation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tool_name
target_id
action
approval_id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read_incident targets an allowed training incident.
Log the validated request and explicit denial reason.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14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Tool schema validation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read_incident targets an allowed training incident.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delete_resource is absent from the allowed tool set.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gateway checks required fields and allowed values before calling a privileged API.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4 | LAB 14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Tool schema validation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read_incident targets an allowed training incident.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Deny unknown tools and extra arguments; model instructions do not create permission.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delete_resource is absent from the allowed tool set.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14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Tool schema validation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Log the validated request and explicit denial reason.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read_incident targets an allowed training incident.
Deny unknown tools and extra arguments; model instructions do not create permission.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14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Tool schema validation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delete_resource is absent from the allowed tool set.
Resolve it using:
tool_name, target_id, action, approval_id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14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Approval binding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Approval must match the specific action, target and expiry at execution time.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342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14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Approval binding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approval_id
action_hash
target_id
expires_utc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approved hash matches the queued action.
Compare approved and executed action digests.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14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Approval binding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approved hash matches the queued action.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different target is substituted after approval.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Approval must match the specific action, target and expiry at execution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4 | LAB 14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Approval binding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approved hash matches the queued action.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Invalidate mismatched approvals and require a fresh decision for the changed action.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different target is substituted after approval.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14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Approval binding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Compare approved and executed action digests.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approved hash matches the queued action.
Invalidate mismatched approvals and require a fresh decision for the changed action.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14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Approval binding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A different target is substituted after approval.
Resolve it using:
approval_id, action_hash, target_id, expires_utc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14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Idempotent response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idempotency key prevents repeated delivery from duplicating a response action.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348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14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Idempotent response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incident_id
action_type
idempotency_key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Two identical requests produce one ticket.
Record request key, first result and duplicate suppression count.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14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Idempotent response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Two identical requests produce one ticket.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retry creates duplicate disable actions with conflicting states.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An idempotency key prevents repeated delivery from duplicating a response action.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4 | LAB 14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Idempotent response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Two identical requests produce one ticket.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Store action outcome and reconcile before retrying a timed-out request.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retry creates duplicate disable actions with conflicting states.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14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Idempotent response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request key, first result and duplicate suppression count.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Two identical requests produce one ticket.
Store action outcome and reconcile before retrying a timed-out request.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14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Idempotent response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A retry creates duplicate disable actions with conflicting states.
Resolve it using:
incident_id, action_type, idempotency_key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14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14 | input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id: call-a
tool: read_incident
target: INC-001
approved_target: INC-001
expired: False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Synthetic fixture record.
Gateway decision log and approval-binding test.
The full dataset and instructions are in this lab’s own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14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14 | decision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745236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708660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allowed={'read_incident','contain_test'}
for r in rows:
    decision='DENY_TOOL' if r['tool'] not in allowed else
('DENY_BINDING' if r['target']!=r['approved_target'] else
('DENY_EXPIRED' if r['expired'] else 'ALLOW'))
    out.append({'id':r['id'],'decision':decision})</a:t>
            </a:r>
          </a:p>
        </p:txBody>
      </p:sp>
      <p:sp>
        <p:nvSpPr>
          <p:cNvPr id="7" name="Rectangle 6"/>
          <p:cNvSpPr/>
          <p:nvPr/>
        </p:nvSpPr>
        <p:spPr>
          <a:xfrm>
            <a:off x="8302752" y="1783080"/>
            <a:ext cx="324612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938528"/>
            <a:ext cx="2843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READ THE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496312"/>
            <a:ext cx="2843784" cy="3355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Actual excerpt from analyse.py.
Python standard library only.
Offline rule model; AI review is separate.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14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14 | computed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Record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Observed 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59152"/>
            <a:ext cx="546811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23160"/>
            <a:ext cx="52303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call-a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359152"/>
            <a:ext cx="546811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2423160"/>
            <a:ext cx="52303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82112"/>
            <a:ext cx="546811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246120"/>
            <a:ext cx="52303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call-b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3182112"/>
            <a:ext cx="546811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3246120"/>
            <a:ext cx="52303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DENY_TOOL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005072"/>
            <a:ext cx="546811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069080"/>
            <a:ext cx="52303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call-c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4005072"/>
            <a:ext cx="546811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4069080"/>
            <a:ext cx="52303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DENY_BINDING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828032"/>
            <a:ext cx="546811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892040"/>
            <a:ext cx="52303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call-d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4828032"/>
            <a:ext cx="546811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2" y="4892040"/>
            <a:ext cx="52303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DENY_EXPIRED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14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14 | evidence distribution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5230368"/>
            <a:ext cx="1063447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632704"/>
            <a:ext cx="101498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Counts from this lab’s synthetic fixture only. Inspect the specific failed records before proposing a control change; this is not a prevalence estimate.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Native editable PowerPoint chart; values from lab fixture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14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14 | test a changed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CONTROLLED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Change call-c approved_target to INC-002. It becomes ALLOW in the fixture; explain why a real approval must come from an authenticated approver and cannot be edited by the requester.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EVIDENCE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the input SHA-256, changed field, predicted decision and actual decision. Explain discrepancies using the script.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14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14 | operational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Gateway decision log and approval-binding test.
Record scope, UTC time and approval state.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WHAT COUNTS AS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simulated pass proves the local rule only. A live claim requires configuration and an observed test. Record exact blockers and unresolved outcomes.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7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B7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B77900"/>
                </a:solidFill>
                <a:latin typeface="Arial"/>
              </a:rPr>
              <a:t>15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15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AI evaluation holdout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separate tuning and holdout examples to estimate performance on unseen cases.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361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15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AI evaluation holdout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dataset_split
label
prediction
threshold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threshold is chosen on tuning data and frozen for holdout.
Retain split membership, fixed threshold and error analysis.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15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AI evaluation holdout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threshold is chosen on tuning data and frozen for holdout.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holdout labels are used to optimise the same threshold.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Use separate tuning and holdout examples to estimate performance on unseen cases.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4 | LAB 15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AI evaluation holdout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threshold is chosen on tuning data and frozen for holdout.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Create a fresh holdout and document the data boundary; estimates from contaminated data are optimistic.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holdout labels are used to optimise the same threshold.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15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AI evaluation holdout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Retain split membership, fixed threshold and error analysis.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threshold is chosen on tuning data and frozen for holdout.
Create a fresh holdout and document the data boundary; estimates from contaminated data are optimistic.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15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AI evaluation holdout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The holdout labels are used to optimise the same threshold.
Resolve it using:
dataset_split, label, prediction, 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15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Adversarial input resilience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Evaluate both benign and malicious context against the same external control boundary.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367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15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Adversarial input resilience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case_id
attack_type
expected_action
observed_action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malicious instruction still produces a denied privileged action.
Report bypasses and false alarms with the exact test-case IDs.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15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Adversarial input resilience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malicious instruction still produces a denied privileged action.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harmless-looking paraphrase bypasses a keyword-only filter.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Evaluate both benign and malicious context against the same external control boundary.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4 | LAB 15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Adversarial input resilience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malicious instruction still produces a denied privileged action.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Broaden the test set and enforce authorisation independent of keyword detection.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harmless-looking paraphrase bypasses a keyword-only filter.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15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Adversarial input resilience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Report bypasses and false alarms with the exact test-case IDs.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malicious instruction still produces a denied privileged action.
Broaden the test set and enforce authorisation independent of keyword detection.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371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15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Adversarial input resilience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A harmless-looking paraphrase bypasses a keyword-only filter.
Resolve it using:
case_id, attack_type, expected_action, observed_action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15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Model and dependency provenance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approved release binds model version, prompt template and dependency checksums.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373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15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Model and dependency provenance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model_version
prompt_hash
package_hash
approval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All artefacts match the approved release manifest.
Keep the manifest and a verified reproducibility record.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15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Model and dependency provenance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All artefacts match the approved release manifest.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unreviewed package changes tool behaviour.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An approved release binds model version, prompt template and dependency checksums.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4 | LAB 15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Model and dependency provenance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All artefacts match the approved release manifest.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Block rollout and restore the approved artifact set; signature and origin checks complement scanning.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unreviewed package changes tool behaviour.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15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Model and dependency provenance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Keep the manifest and a verified reproducibility record.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All artefacts match the approved release manifest.
Block rollout and restore the approved artifact set; signature and origin checks complement scanning.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15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Model and dependency provenance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An unreviewed package changes tool behaviour.
Resolve it using:
model_version, prompt_hash, package_hash, approval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15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15 | input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id: case-1
label: True
predicted: True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Synthetic fixture record.
Confusion matrix and holdout evaluation plan.
The full dataset and instructions are in this lab’s own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15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15 | decision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745236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708660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tp=sum(r['label'] and r['predicted'] for r in rows);fp=sum(not
r['label'] and r['predicted'] for r in rows);fn=sum(r['label']
and not r['predicted'] for r in rows);tn=sum(not r['label']
and not r['predicted'] for r in rows)
out=[{'id':'evaluation','TP':tp,'FP':fp,'FN':fn,'TN':tn,'preci
sion':round(tp/(tp+fp),4) if tp+fp else
None,'recall':round(tp/(tp+fn),4) if tp+fn else
None,'decision':'REVIEW_ERRORS'}]</a:t>
            </a:r>
          </a:p>
        </p:txBody>
      </p:sp>
      <p:sp>
        <p:nvSpPr>
          <p:cNvPr id="7" name="Rectangle 6"/>
          <p:cNvSpPr/>
          <p:nvPr/>
        </p:nvSpPr>
        <p:spPr>
          <a:xfrm>
            <a:off x="8302752" y="1783080"/>
            <a:ext cx="324612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938528"/>
            <a:ext cx="2843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READ THE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496312"/>
            <a:ext cx="2843784" cy="3355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Actual excerpt from analyse.py.
Python standard library only.
Offline rule model; AI review is separate.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15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15 | computed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Record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Observed 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evaluation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REVIEW_ERRORS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15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15 | evidence distribution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5230368"/>
            <a:ext cx="1063447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632704"/>
            <a:ext cx="101498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labelled cases: precision 2/3 and recall 2/3. The sample is deliberately small and is not a production benchmark.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Native editable PowerPoint chart; values from lab fixture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15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15 | test a changed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CONTROLLED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Change case-3 predicted to true. Recall becomes 1.0 while precision becomes 0.75. Explain why this single fixture edit is not proof of an improved detector on unseen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EVIDENCE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the input SHA-256, changed field, predicted decision and actual decision. Explain discrepancies using the script.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15 |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15 | operational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Confusion matrix and holdout evaluation plan.
Record scope, UTC time and approval state.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WHAT COUNTS AS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simulated pass proves the local rule only. A live claim requires configuration and an observed test. Record exact blockers and unresolved outcomes.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16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Response playbook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playbook advances through validated states with a human gate before containment.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385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16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Response playbook state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new
triaged
approved
contained
recovered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approved training incident reaches contained after a successful action.
Record each transition, actor, timestamp and result.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16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Response playbook state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approved training incident reaches contained after a successful action.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failed action is recorded as contained.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playbook advances through validated states with a human gate before containment.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4 | LAB 16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Response playbook state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approved training incident reaches contained after a successful action.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failed actions pending investigation and reconcile actual service state.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failed action is recorded as contained.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16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Response playbook state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each transition, actor, timestamp and result.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approved training incident reaches contained after a successful action.
Keep failed actions pending investigation and reconcile actual service state.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389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16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Response playbook state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A failed action is recorded as contained.
Resolve it using:
new, triaged, approved, contained, recovered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16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Security service health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Missing telemetry can make apparent alert reduction a detection failure.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391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16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Security service health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expected_events
observed_events
connector_status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95 of 100 expected heartbeat events meet a 90% classroom threshold.
Measure completeness and delay alongside alert counts.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16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Security service health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95 of 100 expected heartbeat events meet a 90% classroom threshold.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Zero alerts coincide with a disconnected source.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Missing telemetry can make apparent alert reduction a detection failure.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4 | LAB 16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Security service health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95 of 100 expected heartbeat events meet a 90% classroom threshold.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Restore ingestion, backfill where possible and state the monitoring gap.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Zero alerts coincide with a disconnected source.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394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16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Security service health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Measure completeness and delay alongside alert counts.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95 of 100 expected heartbeat events meet a 90% classroom threshold.
Restore ingestion, backfill where possible and state the monitoring gap.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16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Security service health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Zero alerts coincide with a disconnected source.
Resolve it using:
expected_events, observed_events, connector_status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16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Closure and residual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 inputs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Control 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Close an incident only when remediation and verification evidence address its hypothesis.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397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16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Closure and residual risk | field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root_cause
control_change
retest
residual_risk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role correction passes allowed and denied access tests.
Archive the evidence bundle, change reference and signed decision.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398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16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Closure and residual risk | counterexample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VALID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role correction passes allowed and denied access tests.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FAILURE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ticket closes because the AI report sounds confident.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Close an incident only when remediation and verification evidence address its hypothesis.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399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4 | LAB 16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Closure and residual risk | diagnosis</a:t>
            </a:r>
          </a:p>
        </p:txBody>
      </p:sp>
      <p:sp>
        <p:nvSpPr>
          <p:cNvPr id="5" name="Diamond 4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Evidence supports
the control claim?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| verify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role correction passes allowed and denied access tests.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77900"/>
                </a:solidFill>
                <a:latin typeface="Arial"/>
              </a:rPr>
              <a:t>NO |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Reopen unsupported closure and assign remaining risk to an accountable owner.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B77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440680"/>
            <a:ext cx="10634472" cy="594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955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ticket closes because the AI report sounds confident.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400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16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Closure and residual risk |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EVIDENCE TO PRESERVE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Archive the evidence bundle, change reference and signed decision.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ACCEPTANCE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role correction passes allowed and denied access tests.
Reopen unsupported closure and assign remaining risk to an accountable owner.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401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16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Closure and residual risk | AI claim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REVIEW CONTRACT
claim
evidence_ids
observed_field_values
alternative_explanation
uncertainty
verification_required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Test this claim:
A ticket closes because the AI report sounds confident.
Resolve it using:
root_cause, control_change, retest, residual_risk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402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16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16 | input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720840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6318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INSPECTABLE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63185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id: INC-001
approved: True
action_ok: True
retest_ok: True
events_expected: 100
events_seen: 95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3977639" cy="41879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938528"/>
            <a:ext cx="35753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496312"/>
            <a:ext cx="357530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Synthetic fixture record.
Response state register and closure evidence.
The full dataset and instructions are in this lab’s own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403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16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16 | decision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745236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708660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 r in rows:
    coverage=r['events_seen']/r['events_expected'] if
r['events_expected'] else None
    decision='WAIT_APPROVAL' if not r['approved'] else
('ACTION_FAILED' if not r['action_ok'] else ('RECOVERED' if
r['retest_ok'] and coverage is not None and coverage&gt;=0.9 else
'VERIFY_REQUIRED'))
    out.append({'id':r['id'],'coverage':coverage,'decision':de
cision})</a:t>
            </a:r>
          </a:p>
        </p:txBody>
      </p:sp>
      <p:sp>
        <p:nvSpPr>
          <p:cNvPr id="7" name="Rectangle 6"/>
          <p:cNvSpPr/>
          <p:nvPr/>
        </p:nvSpPr>
        <p:spPr>
          <a:xfrm>
            <a:off x="8302752" y="1783080"/>
            <a:ext cx="324612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938528"/>
            <a:ext cx="2843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READ THE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496312"/>
            <a:ext cx="2843784" cy="3355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Actual excerpt from analyse.py.
Python standard library only.
Offline rule model; AI review is separate.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404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16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16 | computed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Record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783080"/>
            <a:ext cx="5468112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1837943"/>
            <a:ext cx="5230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Observed 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INC-001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359152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2423160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RECOVERED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218688"/>
            <a:ext cx="5468112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282696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INC-002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3218688"/>
            <a:ext cx="5468112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3282696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WAIT_APPROVAL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078224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142232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INC-003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4078224"/>
            <a:ext cx="5468112" cy="841247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4142232"/>
            <a:ext cx="5230368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VERIFY_REQUIRED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405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16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16 | evidence distribution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5230368"/>
            <a:ext cx="10634472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632704"/>
            <a:ext cx="101498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telemetry completeness (%). INC-003 has no observed events, so zero alerts cannot establish recovery.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406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Native editable PowerPoint chart; values from lab fixture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16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16 | test a changed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CONTROLLED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Set INC-003 retest_ok to true. It must still remain VERIFY_REQUIRED because telemetry coverage is zero.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EVIDENCE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Record the input SHA-256, changed field, predicted decision and actual decision. Explain discrepancies using the script.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407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4 | LAB 16 | 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16 | operational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Response state register and closure evidence.
Record scope, UTC time and approval state.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WHAT COUNTS AS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simulated pass proves the local rule only. A live claim requires configuration and an observed test. Record exact blockers and unresolved outcomes.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408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Day 4 | evidence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EXHIBITS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Labs 13–16: compare baseline, changed-input result and source checksum.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REVIEW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Which claim is supported by a record? Which control still needs operational verification? Cite the exact artifact and uncertainty.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409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WRITTEN | 60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Complete all nine K1–K9 questions in the provided document.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PRACTICAL | 60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Complete all three A1–A6 tasks and attach the requested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410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LMS upload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Assessor review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Sign-off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the completed candidate documents in the LMS. The assessor records competence and any required clarification.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411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and TRAQOM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Complete required assessment attendance using the provider-issued link.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COURSE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Complete the provider-issued TRAQOM survey when prompted.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412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CONTINUE PRACTISING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Re-run the lab cases and explain the changed outputs using evidence.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3337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84248"/>
            <a:ext cx="49469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COURSE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542032"/>
            <a:ext cx="4946903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Contact your trainer through the course LMS. Keep confidential data out of shared examples.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for IT Security Professionals | TGS-2023039344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473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| 413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53912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Original worked example; supplied references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